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68" r:id="rId4"/>
    <p:sldId id="269" r:id="rId5"/>
    <p:sldId id="270" r:id="rId6"/>
    <p:sldId id="264" r:id="rId7"/>
    <p:sldId id="271" r:id="rId8"/>
    <p:sldId id="272" r:id="rId9"/>
    <p:sldId id="273" r:id="rId10"/>
    <p:sldId id="274" r:id="rId11"/>
    <p:sldId id="276" r:id="rId12"/>
    <p:sldId id="262" r:id="rId13"/>
    <p:sldId id="257" r:id="rId14"/>
    <p:sldId id="260" r:id="rId15"/>
    <p:sldId id="259" r:id="rId16"/>
    <p:sldId id="261" r:id="rId17"/>
    <p:sldId id="277" r:id="rId18"/>
    <p:sldId id="278" r:id="rId19"/>
    <p:sldId id="26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1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535C2-301A-4197-8124-070C2014E24F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525BF-9350-42EB-8B9D-BE7E78A16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41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3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4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9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1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9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1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6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4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29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2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8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00BC5-1FFA-47BC-ADEB-876C285997F2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777A3-DAB2-414B-AE6B-8DF6E4EE9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6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Macros, Functions and Tasks in Verilog</a:t>
            </a:r>
          </a:p>
        </p:txBody>
      </p:sp>
    </p:spTree>
    <p:extLst>
      <p:ext uri="{BB962C8B-B14F-4D97-AF65-F5344CB8AC3E}">
        <p14:creationId xmlns:p14="http://schemas.microsoft.com/office/powerpoint/2010/main" val="296221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`define </a:t>
            </a:r>
            <a:r>
              <a:rPr lang="en-US" dirty="0"/>
              <a:t>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/>
          </a:bodyPr>
          <a:lstStyle/>
          <a:p>
            <a:r>
              <a:rPr lang="en-US" dirty="0"/>
              <a:t>Used to create a macro for text substitution in the source code before it is compiled (elaborated/synthesized).</a:t>
            </a:r>
          </a:p>
          <a:p>
            <a:pPr lvl="1"/>
            <a:r>
              <a:rPr lang="en-US" dirty="0"/>
              <a:t>Can be used both inside and outside a module definition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b="1" dirty="0"/>
              <a:t>`define </a:t>
            </a:r>
            <a:r>
              <a:rPr lang="en-US" dirty="0"/>
              <a:t>&lt;</a:t>
            </a:r>
            <a:r>
              <a:rPr lang="en-US" dirty="0" err="1"/>
              <a:t>macro_name</a:t>
            </a:r>
            <a:r>
              <a:rPr lang="en-US" dirty="0"/>
              <a:t>&gt; &lt;</a:t>
            </a:r>
            <a:r>
              <a:rPr lang="en-US" dirty="0" err="1"/>
              <a:t>macro_definition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Can be used to define both constants and expressions</a:t>
            </a:r>
          </a:p>
          <a:p>
            <a:pPr lvl="2"/>
            <a:r>
              <a:rPr lang="en-US" b="1" dirty="0"/>
              <a:t>`define </a:t>
            </a:r>
            <a:r>
              <a:rPr lang="en-US" dirty="0" err="1"/>
              <a:t>wordsize</a:t>
            </a:r>
            <a:r>
              <a:rPr lang="en-US" dirty="0"/>
              <a:t> 16</a:t>
            </a:r>
          </a:p>
          <a:p>
            <a:pPr lvl="2"/>
            <a:r>
              <a:rPr lang="en-US" b="1" dirty="0"/>
              <a:t>`define </a:t>
            </a:r>
            <a:r>
              <a:rPr lang="en-US" dirty="0"/>
              <a:t>max(</a:t>
            </a:r>
            <a:r>
              <a:rPr lang="en-US" dirty="0" err="1"/>
              <a:t>a,b</a:t>
            </a:r>
            <a:r>
              <a:rPr lang="en-US" dirty="0"/>
              <a:t>) ((a)&gt;(b) ? (a) : (b)) </a:t>
            </a:r>
          </a:p>
          <a:p>
            <a:pPr lvl="1"/>
            <a:r>
              <a:rPr lang="en-US" dirty="0"/>
              <a:t>After a text macro is defined it can be used in the source description by using the (`) character followed by the macro name</a:t>
            </a:r>
          </a:p>
          <a:p>
            <a:pPr lvl="2"/>
            <a:r>
              <a:rPr lang="en-US" dirty="0"/>
              <a:t>Example: n=`max(</a:t>
            </a:r>
            <a:r>
              <a:rPr lang="en-US" dirty="0" err="1"/>
              <a:t>p+q,r+s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7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072"/>
            <a:ext cx="10515600" cy="4862945"/>
          </a:xfrm>
        </p:spPr>
        <p:txBody>
          <a:bodyPr>
            <a:normAutofit/>
          </a:bodyPr>
          <a:lstStyle/>
          <a:p>
            <a:r>
              <a:rPr lang="en-US" dirty="0"/>
              <a:t>Functions are designed to produce a single value from one or more </a:t>
            </a:r>
            <a:r>
              <a:rPr lang="en-US" b="1" dirty="0"/>
              <a:t>input</a:t>
            </a:r>
            <a:r>
              <a:rPr lang="en-US" dirty="0"/>
              <a:t> expressions</a:t>
            </a:r>
          </a:p>
          <a:p>
            <a:pPr lvl="1"/>
            <a:r>
              <a:rPr lang="en-US" dirty="0"/>
              <a:t>Similar in concept to a mathematical function</a:t>
            </a:r>
          </a:p>
          <a:p>
            <a:r>
              <a:rPr lang="en-US" dirty="0"/>
              <a:t>The lines of code are enclosed in </a:t>
            </a:r>
            <a:r>
              <a:rPr lang="en-US" b="1" dirty="0"/>
              <a:t>function....</a:t>
            </a:r>
            <a:r>
              <a:rPr lang="en-US" b="1" dirty="0" err="1"/>
              <a:t>endfunction</a:t>
            </a:r>
            <a:r>
              <a:rPr lang="en-US" b="1" dirty="0"/>
              <a:t> </a:t>
            </a:r>
            <a:r>
              <a:rPr lang="en-US" dirty="0"/>
              <a:t>brackets</a:t>
            </a:r>
          </a:p>
          <a:p>
            <a:r>
              <a:rPr lang="en-US" dirty="0"/>
              <a:t>Functions can only be called in a procedural section in the main body of the model and in continuous assignment statements (e.g. </a:t>
            </a:r>
            <a:r>
              <a:rPr lang="en-US" b="1" dirty="0"/>
              <a:t>assign</a:t>
            </a:r>
            <a:r>
              <a:rPr lang="en-US" dirty="0"/>
              <a:t> statements)</a:t>
            </a:r>
          </a:p>
          <a:p>
            <a:r>
              <a:rPr lang="en-US" dirty="0"/>
              <a:t>Functions can be called many times reducing coding length and repetition</a:t>
            </a:r>
          </a:p>
          <a:p>
            <a:r>
              <a:rPr lang="en-US" altLang="en-US" dirty="0"/>
              <a:t>Functions can only be used for modeling </a:t>
            </a:r>
            <a:r>
              <a:rPr lang="en-US" altLang="en-US" u="sng" dirty="0"/>
              <a:t>combinational</a:t>
            </a:r>
            <a:r>
              <a:rPr lang="en-US" altLang="en-US" dirty="0"/>
              <a:t> logic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64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03238" y="1768475"/>
            <a:ext cx="9069387" cy="4987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Function Declaration Format:</a:t>
            </a:r>
          </a:p>
          <a:p>
            <a:pPr marL="457200" lvl="1" indent="0">
              <a:buNone/>
            </a:pPr>
            <a:r>
              <a:rPr lang="en-US" altLang="en-US" b="1" dirty="0"/>
              <a:t>function</a:t>
            </a:r>
            <a:r>
              <a:rPr lang="en-US" altLang="en-US" dirty="0"/>
              <a:t> [optional vector size] </a:t>
            </a:r>
            <a:r>
              <a:rPr lang="en-US" altLang="en-US" dirty="0" err="1"/>
              <a:t>function_name</a:t>
            </a:r>
            <a:endParaRPr lang="en-US" altLang="en-US" dirty="0"/>
          </a:p>
          <a:p>
            <a:pPr lvl="2"/>
            <a:r>
              <a:rPr lang="en-US" altLang="en-US" b="1" dirty="0"/>
              <a:t>input</a:t>
            </a:r>
            <a:r>
              <a:rPr lang="en-US" altLang="en-US" dirty="0"/>
              <a:t> [declarations]</a:t>
            </a:r>
          </a:p>
          <a:p>
            <a:pPr lvl="2"/>
            <a:r>
              <a:rPr lang="en-US" altLang="en-US" dirty="0"/>
              <a:t>&lt;other declarations&gt; // </a:t>
            </a:r>
            <a:r>
              <a:rPr lang="en-US" altLang="en-US" dirty="0" err="1"/>
              <a:t>reg</a:t>
            </a:r>
            <a:r>
              <a:rPr lang="en-US" altLang="en-US" dirty="0"/>
              <a:t>, parameter, integer, etc.</a:t>
            </a:r>
          </a:p>
          <a:p>
            <a:pPr marL="914400" lvl="2" indent="0">
              <a:buNone/>
            </a:pPr>
            <a:r>
              <a:rPr lang="en-US" altLang="en-US" sz="2400" b="1" dirty="0"/>
              <a:t>begin</a:t>
            </a:r>
          </a:p>
          <a:p>
            <a:pPr marL="914400" lvl="2" indent="0">
              <a:buNone/>
            </a:pPr>
            <a:r>
              <a:rPr lang="en-US" altLang="en-US" sz="2400" dirty="0"/>
              <a:t>	sequential statements</a:t>
            </a:r>
          </a:p>
          <a:p>
            <a:pPr marL="914400" lvl="2" indent="0">
              <a:buNone/>
            </a:pPr>
            <a:r>
              <a:rPr lang="en-US" altLang="en-US" sz="2400" b="1" dirty="0"/>
              <a:t>end</a:t>
            </a:r>
          </a:p>
          <a:p>
            <a:pPr marL="457200" lvl="1" indent="0">
              <a:buNone/>
            </a:pPr>
            <a:r>
              <a:rPr lang="en-US" altLang="en-US" b="1" dirty="0" err="1"/>
              <a:t>endfunction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502348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072"/>
            <a:ext cx="10515600" cy="4862945"/>
          </a:xfrm>
        </p:spPr>
        <p:txBody>
          <a:bodyPr>
            <a:normAutofit/>
          </a:bodyPr>
          <a:lstStyle/>
          <a:p>
            <a:r>
              <a:rPr lang="en-US" dirty="0"/>
              <a:t>A function returns a value by assigning it to the function name.</a:t>
            </a:r>
          </a:p>
          <a:p>
            <a:pPr lvl="1"/>
            <a:r>
              <a:rPr lang="en-US" dirty="0"/>
              <a:t>The value returned can be a single bit or a vector of bits.</a:t>
            </a:r>
          </a:p>
          <a:p>
            <a:r>
              <a:rPr lang="en-US" dirty="0"/>
              <a:t>Functions are often used to perform type conversions</a:t>
            </a:r>
          </a:p>
          <a:p>
            <a:r>
              <a:rPr lang="en-US" dirty="0"/>
              <a:t>A function can be used anywhere an expression can be used – it can be part of a larger expression</a:t>
            </a:r>
          </a:p>
          <a:p>
            <a:pPr lvl="1"/>
            <a:r>
              <a:rPr lang="en-US" dirty="0"/>
              <a:t>Unlike a task which requires a separate statement to call it</a:t>
            </a:r>
          </a:p>
          <a:p>
            <a:r>
              <a:rPr lang="en-US" altLang="en-US" dirty="0"/>
              <a:t>Functions are declared in the module in which they are used. </a:t>
            </a:r>
          </a:p>
          <a:p>
            <a:pPr lvl="1"/>
            <a:r>
              <a:rPr lang="en-US" altLang="en-US" dirty="0"/>
              <a:t>It is possible to define a function in a separate file and use the compile directive </a:t>
            </a:r>
            <a:r>
              <a:rPr lang="en-US" altLang="en-US" b="1" dirty="0"/>
              <a:t>`include </a:t>
            </a:r>
            <a:r>
              <a:rPr lang="en-US" altLang="en-US" dirty="0"/>
              <a:t>to include the function in the file in which it is to used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4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`include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/>
          <a:lstStyle/>
          <a:p>
            <a:r>
              <a:rPr lang="en-US" dirty="0"/>
              <a:t>Used to insert the contents of one source file into another source file during compilation. </a:t>
            </a:r>
          </a:p>
          <a:p>
            <a:pPr lvl="1"/>
            <a:r>
              <a:rPr lang="en-US" dirty="0"/>
              <a:t>Location of `include directive in the source file determines where in the “included” contents are to appear in that file</a:t>
            </a:r>
          </a:p>
          <a:p>
            <a:pPr lvl="1"/>
            <a:r>
              <a:rPr lang="en-US" dirty="0"/>
              <a:t>`include directives can be nested but there should be no circular references within the nesting structure</a:t>
            </a:r>
          </a:p>
          <a:p>
            <a:pPr lvl="1"/>
            <a:r>
              <a:rPr lang="en-US" dirty="0"/>
              <a:t>`include directives are often used to bring within the module’s encapsulating boundaries, commonly used definitions, tasks, and functions without redefining them</a:t>
            </a:r>
          </a:p>
          <a:p>
            <a:pPr marL="457200" lvl="1" indent="0">
              <a:buNone/>
            </a:pPr>
            <a:r>
              <a:rPr lang="en-US" dirty="0"/>
              <a:t>Format:</a:t>
            </a:r>
          </a:p>
          <a:p>
            <a:pPr marL="457200" lvl="1" indent="0">
              <a:buNone/>
            </a:pPr>
            <a:r>
              <a:rPr lang="en-US" b="1" dirty="0"/>
              <a:t>`include </a:t>
            </a:r>
            <a:r>
              <a:rPr lang="en-US" dirty="0"/>
              <a:t>&lt;</a:t>
            </a:r>
            <a:r>
              <a:rPr lang="en-US" dirty="0" err="1"/>
              <a:t>include_file.v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0662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Function Call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37" y="2053589"/>
            <a:ext cx="8356447" cy="415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Function Call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0043"/>
            <a:ext cx="5298213" cy="449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12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5" y="1330469"/>
            <a:ext cx="6330660" cy="5174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982" y="187037"/>
            <a:ext cx="10515600" cy="1325563"/>
          </a:xfrm>
        </p:spPr>
        <p:txBody>
          <a:bodyPr/>
          <a:lstStyle/>
          <a:p>
            <a:r>
              <a:rPr lang="en-US" dirty="0"/>
              <a:t>Example Function Call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375" y="2656032"/>
            <a:ext cx="6461847" cy="1668377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7044171" y="2027454"/>
            <a:ext cx="4655994" cy="528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if </a:t>
            </a:r>
            <a:r>
              <a:rPr lang="en-US" altLang="en-US" b="1" dirty="0" err="1"/>
              <a:t>ff_out</a:t>
            </a:r>
            <a:r>
              <a:rPr lang="en-US" altLang="en-US" b="1" dirty="0"/>
              <a:t>[15:0]</a:t>
            </a:r>
            <a:r>
              <a:rPr lang="en-US" altLang="en-US" dirty="0"/>
              <a:t> is a </a:t>
            </a:r>
            <a:r>
              <a:rPr lang="en-US" altLang="en-US" b="1" dirty="0" err="1"/>
              <a:t>reg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02468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5" y="1330469"/>
            <a:ext cx="6330660" cy="5174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982" y="187037"/>
            <a:ext cx="10515600" cy="1325563"/>
          </a:xfrm>
        </p:spPr>
        <p:txBody>
          <a:bodyPr/>
          <a:lstStyle/>
          <a:p>
            <a:r>
              <a:rPr lang="en-US" dirty="0"/>
              <a:t>Example Function Call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965" y="2865654"/>
            <a:ext cx="7114691" cy="1042446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7044171" y="2027454"/>
            <a:ext cx="4655994" cy="528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if </a:t>
            </a:r>
            <a:r>
              <a:rPr lang="en-US" altLang="en-US" b="1" dirty="0" err="1"/>
              <a:t>ff_out</a:t>
            </a:r>
            <a:r>
              <a:rPr lang="en-US" altLang="en-US" b="1" dirty="0"/>
              <a:t>[15:0]</a:t>
            </a:r>
            <a:r>
              <a:rPr lang="en-US" altLang="en-US" dirty="0"/>
              <a:t> is a </a:t>
            </a:r>
            <a:r>
              <a:rPr lang="en-US" altLang="en-US" b="1" dirty="0"/>
              <a:t>wire</a:t>
            </a:r>
          </a:p>
        </p:txBody>
      </p:sp>
    </p:spTree>
    <p:extLst>
      <p:ext uri="{BB962C8B-B14F-4D97-AF65-F5344CB8AC3E}">
        <p14:creationId xmlns:p14="http://schemas.microsoft.com/office/powerpoint/2010/main" val="2739486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7D42A-4188-4A88-652A-B22A9CD8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4C5D-0EB6-AE04-C1A6-250C172C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F913-3587-3745-D17A-56CF31318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for</a:t>
            </a:r>
            <a:r>
              <a:rPr lang="en-US" dirty="0"/>
              <a:t> loop in Verilog is a procedural construct that is primarily used to replicate hardware logic.</a:t>
            </a:r>
          </a:p>
          <a:p>
            <a:pPr marL="0" indent="0">
              <a:buNone/>
            </a:pPr>
            <a:r>
              <a:rPr lang="en-US" dirty="0"/>
              <a:t>Syntax</a:t>
            </a:r>
          </a:p>
          <a:p>
            <a:pPr marL="457200" lvl="1" indent="0">
              <a:buNone/>
            </a:pPr>
            <a:r>
              <a:rPr lang="en-US" dirty="0"/>
              <a:t>for (&lt;</a:t>
            </a:r>
            <a:r>
              <a:rPr lang="en-US" b="1" i="1" dirty="0" err="1"/>
              <a:t>initial_condition</a:t>
            </a:r>
            <a:r>
              <a:rPr lang="en-US" dirty="0"/>
              <a:t>&gt;; &lt;</a:t>
            </a:r>
            <a:r>
              <a:rPr lang="en-US" b="1" i="1" dirty="0"/>
              <a:t>condition</a:t>
            </a:r>
            <a:r>
              <a:rPr lang="en-US" dirty="0"/>
              <a:t>&gt;; &lt;</a:t>
            </a:r>
            <a:r>
              <a:rPr lang="en-US" b="1" i="1" dirty="0" err="1"/>
              <a:t>step_assignment</a:t>
            </a:r>
            <a:r>
              <a:rPr lang="en-US" dirty="0"/>
              <a:t>&gt;) 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b="1" dirty="0"/>
              <a:t>begin</a:t>
            </a:r>
          </a:p>
          <a:p>
            <a:pPr marL="457200" lvl="1" indent="0">
              <a:buNone/>
            </a:pPr>
            <a:r>
              <a:rPr lang="en-US" dirty="0"/>
              <a:t>	// Statements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b="1" dirty="0"/>
              <a:t>end</a:t>
            </a:r>
          </a:p>
          <a:p>
            <a:pPr lvl="1"/>
            <a:r>
              <a:rPr lang="en-US" dirty="0"/>
              <a:t>&lt;</a:t>
            </a:r>
            <a:r>
              <a:rPr lang="en-US" b="1" i="1" dirty="0" err="1"/>
              <a:t>initial_condition</a:t>
            </a:r>
            <a:r>
              <a:rPr lang="en-US" dirty="0"/>
              <a:t>&gt; -- specifies initial values of signals</a:t>
            </a:r>
          </a:p>
          <a:p>
            <a:pPr lvl="1"/>
            <a:r>
              <a:rPr lang="en-US" dirty="0"/>
              <a:t>&lt;</a:t>
            </a:r>
            <a:r>
              <a:rPr lang="en-US" b="1" i="1" dirty="0"/>
              <a:t>condition</a:t>
            </a:r>
            <a:r>
              <a:rPr lang="en-US" dirty="0"/>
              <a:t>&gt; -- a logical check to evaluate if the given condition is true for the current iteration</a:t>
            </a:r>
          </a:p>
          <a:p>
            <a:pPr lvl="1"/>
            <a:r>
              <a:rPr lang="en-US" dirty="0"/>
              <a:t>&lt;</a:t>
            </a:r>
            <a:r>
              <a:rPr lang="en-US" b="1" i="1" dirty="0" err="1"/>
              <a:t>step_assignment</a:t>
            </a:r>
            <a:r>
              <a:rPr lang="en-US" dirty="0"/>
              <a:t>&gt;) – expression to be used to update the control variable for the next iteration</a:t>
            </a:r>
          </a:p>
          <a:p>
            <a:r>
              <a:rPr lang="en-US" dirty="0"/>
              <a:t>Purpose -- to iterate a set of statements given within the loop as long as the given condition is true.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76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1A043F-7F1D-7942-3EA7-337FB823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38" y="311689"/>
            <a:ext cx="5758536" cy="34085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8125BF-FE01-AC83-EB3B-7057CE10C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22" y="3884678"/>
            <a:ext cx="4963218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696073-C231-0D3A-6E94-4CD3FE6AC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552" y="4326124"/>
            <a:ext cx="192507" cy="4290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0C7DC2-84E5-54FB-4E70-E5D1F4F6D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49" y="3699877"/>
            <a:ext cx="8240275" cy="17147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49E0AA7-1410-C39C-3504-43A5F7EC49C9}"/>
              </a:ext>
            </a:extLst>
          </p:cNvPr>
          <p:cNvGrpSpPr/>
          <p:nvPr/>
        </p:nvGrpSpPr>
        <p:grpSpPr>
          <a:xfrm>
            <a:off x="605992" y="4932810"/>
            <a:ext cx="2906114" cy="1381318"/>
            <a:chOff x="680952" y="4914406"/>
            <a:chExt cx="2906114" cy="138131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E2EAC5E-0507-AA25-B503-8454AEA64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952" y="4914406"/>
              <a:ext cx="1333686" cy="13813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3939A1-5626-43CD-38BC-7C290D2FD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34063" y="5605065"/>
              <a:ext cx="2353003" cy="238158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EB4397-9237-5796-F7FA-4EB1A509F005}"/>
              </a:ext>
            </a:extLst>
          </p:cNvPr>
          <p:cNvGrpSpPr/>
          <p:nvPr/>
        </p:nvGrpSpPr>
        <p:grpSpPr>
          <a:xfrm>
            <a:off x="3604371" y="4886050"/>
            <a:ext cx="3275876" cy="1971950"/>
            <a:chOff x="3604371" y="4886050"/>
            <a:chExt cx="3275876" cy="197195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447BC-A9D4-29A1-3157-54AD196AE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04371" y="4886050"/>
              <a:ext cx="152421" cy="1971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F40E0D6-B9C6-8A06-9D54-1DB784B77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65217" y="4886050"/>
              <a:ext cx="1638529" cy="14384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FC740C3-3FD2-CDDB-F73A-D02EF0ED7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27244" y="5562575"/>
              <a:ext cx="2353003" cy="2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772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072"/>
            <a:ext cx="10515600" cy="4862945"/>
          </a:xfrm>
        </p:spPr>
        <p:txBody>
          <a:bodyPr>
            <a:normAutofit/>
          </a:bodyPr>
          <a:lstStyle/>
          <a:p>
            <a:r>
              <a:rPr lang="en-US" dirty="0"/>
              <a:t>Tasks are similar to procedures, subroutines, or methods used in other high-level programming languages</a:t>
            </a:r>
          </a:p>
          <a:p>
            <a:r>
              <a:rPr lang="en-US" dirty="0"/>
              <a:t>The lines of code are enclosed in </a:t>
            </a:r>
            <a:r>
              <a:rPr lang="en-US" b="1" dirty="0"/>
              <a:t>task....end task </a:t>
            </a:r>
            <a:r>
              <a:rPr lang="en-US" dirty="0"/>
              <a:t>brackets</a:t>
            </a:r>
          </a:p>
          <a:p>
            <a:r>
              <a:rPr lang="en-US" dirty="0"/>
              <a:t>Tasks can </a:t>
            </a:r>
            <a:r>
              <a:rPr lang="en-US" u="sng" dirty="0"/>
              <a:t>only</a:t>
            </a:r>
            <a:r>
              <a:rPr lang="en-US" dirty="0"/>
              <a:t> be called in a </a:t>
            </a:r>
            <a:r>
              <a:rPr lang="en-US" u="sng" dirty="0"/>
              <a:t>procedural</a:t>
            </a:r>
            <a:r>
              <a:rPr lang="en-US" dirty="0"/>
              <a:t> section in the main body of the model</a:t>
            </a:r>
          </a:p>
          <a:p>
            <a:r>
              <a:rPr lang="en-US" dirty="0"/>
              <a:t>Like functions and macros, tasks can be called many times thereby reducing coding length and repetition</a:t>
            </a:r>
          </a:p>
          <a:p>
            <a:r>
              <a:rPr lang="en-US" altLang="en-US" dirty="0"/>
              <a:t>tasks can be used for modeling both </a:t>
            </a:r>
            <a:r>
              <a:rPr lang="en-US" altLang="en-US" u="sng" dirty="0"/>
              <a:t>combinational</a:t>
            </a:r>
            <a:r>
              <a:rPr lang="en-US" altLang="en-US" dirty="0"/>
              <a:t> and </a:t>
            </a:r>
            <a:r>
              <a:rPr lang="en-US" altLang="en-US" u="sng" dirty="0"/>
              <a:t>sequential</a:t>
            </a:r>
            <a:r>
              <a:rPr lang="en-US" altLang="en-US" dirty="0"/>
              <a:t> logic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9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4664"/>
            <a:ext cx="10515600" cy="4995354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tasks are defined in the module in which they are used. </a:t>
            </a:r>
          </a:p>
          <a:p>
            <a:pPr lvl="1"/>
            <a:r>
              <a:rPr lang="en-US" altLang="en-US" dirty="0"/>
              <a:t>It is possible to define a task in a separate file and use the compile directive </a:t>
            </a:r>
            <a:r>
              <a:rPr lang="en-US" altLang="en-US" b="1" dirty="0"/>
              <a:t>`include </a:t>
            </a:r>
            <a:r>
              <a:rPr lang="en-US" altLang="en-US" dirty="0"/>
              <a:t>to include the task in the file which instantiates the task.</a:t>
            </a:r>
          </a:p>
          <a:p>
            <a:r>
              <a:rPr lang="en-US" altLang="en-US" dirty="0"/>
              <a:t>tasks can call another task or function</a:t>
            </a:r>
          </a:p>
          <a:p>
            <a:r>
              <a:rPr lang="en-US" altLang="en-US" dirty="0"/>
              <a:t>A task must be specifically called with a statement</a:t>
            </a:r>
          </a:p>
          <a:p>
            <a:pPr lvl="1"/>
            <a:r>
              <a:rPr lang="en-US" altLang="en-US" dirty="0"/>
              <a:t>Unlike a function it cannot be used within an expression</a:t>
            </a:r>
          </a:p>
          <a:p>
            <a:r>
              <a:rPr lang="en-US" altLang="en-US" dirty="0"/>
              <a:t>tasks can include timing delays, like </a:t>
            </a:r>
            <a:r>
              <a:rPr lang="en-US" altLang="en-US" b="1" dirty="0" err="1"/>
              <a:t>posedge</a:t>
            </a:r>
            <a:r>
              <a:rPr lang="en-US" altLang="en-US" dirty="0"/>
              <a:t>, </a:t>
            </a:r>
            <a:r>
              <a:rPr lang="en-US" altLang="en-US" b="1" dirty="0" err="1"/>
              <a:t>negedge</a:t>
            </a:r>
            <a:r>
              <a:rPr lang="en-US" altLang="en-US" dirty="0"/>
              <a:t>, </a:t>
            </a:r>
            <a:r>
              <a:rPr lang="en-US" altLang="en-US" b="1" dirty="0"/>
              <a:t># delay </a:t>
            </a:r>
            <a:r>
              <a:rPr lang="en-US" altLang="en-US" dirty="0"/>
              <a:t>and </a:t>
            </a:r>
            <a:r>
              <a:rPr lang="en-US" altLang="en-US" b="1" dirty="0"/>
              <a:t>wait</a:t>
            </a:r>
          </a:p>
          <a:p>
            <a:r>
              <a:rPr lang="en-US" altLang="en-US" dirty="0"/>
              <a:t>tasks can have any number of inputs and outputs</a:t>
            </a:r>
          </a:p>
          <a:p>
            <a:r>
              <a:rPr lang="en-US" altLang="en-US" dirty="0"/>
              <a:t>The variables declared within a task are local to that task. </a:t>
            </a:r>
          </a:p>
          <a:p>
            <a:r>
              <a:rPr lang="en-US" altLang="en-US" dirty="0"/>
              <a:t>The order of declaration within the task defines how the variables passed to the task by the caller are used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44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5509"/>
            <a:ext cx="10515600" cy="47014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Tasks can be thought of normally acting in the following manner when only local variables are used:</a:t>
            </a:r>
          </a:p>
          <a:p>
            <a:pPr lvl="1"/>
            <a:r>
              <a:rPr lang="en-US" dirty="0"/>
              <a:t>Data is passed to task through one or more </a:t>
            </a:r>
            <a:r>
              <a:rPr lang="en-US" b="1" dirty="0"/>
              <a:t>input</a:t>
            </a:r>
            <a:r>
              <a:rPr lang="en-US" dirty="0"/>
              <a:t> or </a:t>
            </a:r>
            <a:r>
              <a:rPr lang="en-US" b="1" dirty="0" err="1"/>
              <a:t>inout</a:t>
            </a:r>
            <a:r>
              <a:rPr lang="en-US" dirty="0"/>
              <a:t> declarations.</a:t>
            </a:r>
          </a:p>
          <a:p>
            <a:pPr lvl="2"/>
            <a:r>
              <a:rPr lang="en-US" dirty="0"/>
              <a:t>Similar to pass-by-value occurs at beginning of the task region</a:t>
            </a:r>
          </a:p>
          <a:p>
            <a:pPr lvl="1"/>
            <a:r>
              <a:rPr lang="en-US" dirty="0"/>
              <a:t>Task performs its appointed function</a:t>
            </a:r>
          </a:p>
          <a:p>
            <a:pPr lvl="1"/>
            <a:r>
              <a:rPr lang="en-US" dirty="0"/>
              <a:t>Results are returned to the calling module through </a:t>
            </a:r>
            <a:r>
              <a:rPr lang="en-US" b="1" dirty="0"/>
              <a:t>output</a:t>
            </a:r>
            <a:r>
              <a:rPr lang="en-US" dirty="0"/>
              <a:t> or </a:t>
            </a:r>
            <a:r>
              <a:rPr lang="en-US" b="1" dirty="0" err="1"/>
              <a:t>inout</a:t>
            </a:r>
            <a:r>
              <a:rPr lang="en-US" dirty="0"/>
              <a:t> declarations</a:t>
            </a:r>
          </a:p>
          <a:p>
            <a:pPr lvl="2"/>
            <a:r>
              <a:rPr lang="en-US" dirty="0"/>
              <a:t>Similar to pass-by-reference at end of task region</a:t>
            </a:r>
            <a:endParaRPr lang="en-US" altLang="en-US" dirty="0"/>
          </a:p>
          <a:p>
            <a:r>
              <a:rPr lang="en-US" altLang="en-US" dirty="0"/>
              <a:t>Tasks can also take, drive and source global variables, when no local variables are used</a:t>
            </a:r>
          </a:p>
          <a:p>
            <a:r>
              <a:rPr lang="en-US" dirty="0"/>
              <a:t>The use of global variables in tasks should be limited due to their possible side-effects and lack of information hiding </a:t>
            </a:r>
          </a:p>
        </p:txBody>
      </p:sp>
    </p:spTree>
    <p:extLst>
      <p:ext uri="{BB962C8B-B14F-4D97-AF65-F5344CB8AC3E}">
        <p14:creationId xmlns:p14="http://schemas.microsoft.com/office/powerpoint/2010/main" val="11470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503238" y="1768475"/>
            <a:ext cx="9069387" cy="4987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Task Declaration Format:</a:t>
            </a:r>
          </a:p>
          <a:p>
            <a:pPr marL="457200" lvl="1" indent="0">
              <a:buNone/>
            </a:pPr>
            <a:r>
              <a:rPr lang="en-US" altLang="en-US" b="1" dirty="0"/>
              <a:t>task</a:t>
            </a:r>
            <a:r>
              <a:rPr lang="en-US" altLang="en-US" dirty="0"/>
              <a:t> </a:t>
            </a:r>
            <a:r>
              <a:rPr lang="en-US" altLang="en-US" dirty="0" err="1"/>
              <a:t>task_name</a:t>
            </a:r>
            <a:endParaRPr lang="en-US" altLang="en-US" dirty="0"/>
          </a:p>
          <a:p>
            <a:pPr lvl="2"/>
            <a:r>
              <a:rPr lang="en-US" altLang="en-US" b="1" dirty="0"/>
              <a:t>input</a:t>
            </a:r>
            <a:r>
              <a:rPr lang="en-US" altLang="en-US" dirty="0"/>
              <a:t> [declarations]</a:t>
            </a:r>
          </a:p>
          <a:p>
            <a:pPr lvl="2"/>
            <a:r>
              <a:rPr lang="en-US" altLang="en-US" b="1" dirty="0"/>
              <a:t>output</a:t>
            </a:r>
            <a:r>
              <a:rPr lang="en-US" altLang="en-US" dirty="0"/>
              <a:t> [declarations]</a:t>
            </a:r>
          </a:p>
          <a:p>
            <a:pPr lvl="2"/>
            <a:r>
              <a:rPr lang="en-US" altLang="en-US" b="1" dirty="0" err="1"/>
              <a:t>inout</a:t>
            </a:r>
            <a:r>
              <a:rPr lang="en-US" altLang="en-US" dirty="0"/>
              <a:t> [declarations]</a:t>
            </a:r>
          </a:p>
          <a:p>
            <a:pPr lvl="2"/>
            <a:r>
              <a:rPr lang="en-US" altLang="en-US" dirty="0"/>
              <a:t>&lt;other declarations&gt; // </a:t>
            </a:r>
            <a:r>
              <a:rPr lang="en-US" altLang="en-US" dirty="0" err="1"/>
              <a:t>reg</a:t>
            </a:r>
            <a:r>
              <a:rPr lang="en-US" altLang="en-US" dirty="0"/>
              <a:t>, parameter, integer, etc.</a:t>
            </a:r>
          </a:p>
          <a:p>
            <a:pPr marL="914400" lvl="2" indent="0">
              <a:buNone/>
            </a:pPr>
            <a:r>
              <a:rPr lang="en-US" altLang="en-US" sz="2400" b="1" dirty="0"/>
              <a:t>begin</a:t>
            </a:r>
          </a:p>
          <a:p>
            <a:pPr marL="914400" lvl="2" indent="0">
              <a:buNone/>
            </a:pPr>
            <a:r>
              <a:rPr lang="en-US" altLang="en-US" sz="2400" dirty="0"/>
              <a:t>	sequential statements</a:t>
            </a:r>
          </a:p>
          <a:p>
            <a:pPr marL="914400" lvl="2" indent="0">
              <a:buNone/>
            </a:pPr>
            <a:r>
              <a:rPr lang="en-US" altLang="en-US" sz="2400" b="1" dirty="0"/>
              <a:t>end</a:t>
            </a:r>
          </a:p>
          <a:p>
            <a:pPr marL="457200" lvl="1" indent="0">
              <a:buNone/>
            </a:pPr>
            <a:r>
              <a:rPr lang="en-US" altLang="en-US" b="1" dirty="0" err="1"/>
              <a:t>endtask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882347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`define </a:t>
            </a:r>
            <a:r>
              <a:rPr lang="en-US" dirty="0"/>
              <a:t>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/>
          </a:bodyPr>
          <a:lstStyle/>
          <a:p>
            <a:r>
              <a:rPr lang="en-US" dirty="0"/>
              <a:t>Used to create a macro for text substitution in the source code before it is compiled (elaborated/synthesized).</a:t>
            </a:r>
          </a:p>
          <a:p>
            <a:pPr lvl="1"/>
            <a:r>
              <a:rPr lang="en-US" dirty="0"/>
              <a:t>Can be used both inside and outside a module definition</a:t>
            </a:r>
          </a:p>
          <a:p>
            <a:pPr lvl="1"/>
            <a:r>
              <a:rPr lang="en-US" dirty="0"/>
              <a:t>Format</a:t>
            </a:r>
          </a:p>
          <a:p>
            <a:pPr lvl="2"/>
            <a:r>
              <a:rPr lang="en-US" b="1" dirty="0"/>
              <a:t>`define </a:t>
            </a:r>
            <a:r>
              <a:rPr lang="en-US" dirty="0"/>
              <a:t>&lt;</a:t>
            </a:r>
            <a:r>
              <a:rPr lang="en-US" dirty="0" err="1"/>
              <a:t>macro_name</a:t>
            </a:r>
            <a:r>
              <a:rPr lang="en-US" dirty="0"/>
              <a:t>&gt; &lt;</a:t>
            </a:r>
            <a:r>
              <a:rPr lang="en-US" dirty="0" err="1"/>
              <a:t>macro_definition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Can be used to define both constants and expressions</a:t>
            </a:r>
          </a:p>
          <a:p>
            <a:pPr lvl="2"/>
            <a:r>
              <a:rPr lang="en-US" b="1" dirty="0"/>
              <a:t>`define </a:t>
            </a:r>
            <a:r>
              <a:rPr lang="en-US" dirty="0" err="1"/>
              <a:t>wordsize</a:t>
            </a:r>
            <a:r>
              <a:rPr lang="en-US" dirty="0"/>
              <a:t> 16</a:t>
            </a:r>
          </a:p>
          <a:p>
            <a:pPr lvl="2"/>
            <a:r>
              <a:rPr lang="en-US" b="1" dirty="0"/>
              <a:t>`define </a:t>
            </a:r>
            <a:r>
              <a:rPr lang="en-US" dirty="0"/>
              <a:t>max(</a:t>
            </a:r>
            <a:r>
              <a:rPr lang="en-US" dirty="0" err="1"/>
              <a:t>a,b</a:t>
            </a:r>
            <a:r>
              <a:rPr lang="en-US" dirty="0"/>
              <a:t>) ((a)&gt;(b) ? (a) : (b)) </a:t>
            </a:r>
          </a:p>
          <a:p>
            <a:pPr lvl="1"/>
            <a:r>
              <a:rPr lang="en-US" dirty="0"/>
              <a:t>After a text macro is defined it can be used in the source description by using the (`) character followed by the macro name</a:t>
            </a:r>
          </a:p>
          <a:p>
            <a:pPr lvl="2"/>
            <a:r>
              <a:rPr lang="en-US" dirty="0"/>
              <a:t>Example: n=`max(</a:t>
            </a:r>
            <a:r>
              <a:rPr lang="en-US" dirty="0" err="1"/>
              <a:t>p+q,r+s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99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47637"/>
            <a:ext cx="1006792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297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1709737"/>
            <a:ext cx="83724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14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versus </a:t>
            </a:r>
            <a:r>
              <a:rPr lang="en-US" b="1" dirty="0"/>
              <a:t>automatic</a:t>
            </a:r>
            <a:r>
              <a:rPr lang="en-US" dirty="0"/>
              <a:t>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7072"/>
            <a:ext cx="10515600" cy="4862945"/>
          </a:xfrm>
        </p:spPr>
        <p:txBody>
          <a:bodyPr>
            <a:normAutofit/>
          </a:bodyPr>
          <a:lstStyle/>
          <a:p>
            <a:r>
              <a:rPr lang="en-US" dirty="0"/>
              <a:t>Unlike functions in high-level ISP Languages like C/C++, tasks in Verilog are static in nature by default</a:t>
            </a:r>
          </a:p>
          <a:p>
            <a:pPr lvl="1"/>
            <a:r>
              <a:rPr lang="en-US" dirty="0"/>
              <a:t> This means all internal items declared within the task are shared between calls of the same task</a:t>
            </a:r>
          </a:p>
          <a:p>
            <a:r>
              <a:rPr lang="en-US" dirty="0"/>
              <a:t>If the same task is used in the same module more than once (or if it calls itself in a recursive manner) it should be declared as an </a:t>
            </a:r>
            <a:r>
              <a:rPr lang="en-US" b="1" dirty="0"/>
              <a:t>automatic</a:t>
            </a:r>
            <a:r>
              <a:rPr lang="en-US" dirty="0"/>
              <a:t> task.</a:t>
            </a:r>
          </a:p>
          <a:p>
            <a:r>
              <a:rPr lang="en-US" b="1" dirty="0"/>
              <a:t>automatic</a:t>
            </a:r>
            <a:r>
              <a:rPr lang="en-US" dirty="0"/>
              <a:t> tasks are re-entrant – the items declared within it are allocated upon every individual call of the task.</a:t>
            </a:r>
          </a:p>
          <a:p>
            <a:pPr marL="457200" lvl="1" indent="0">
              <a:buNone/>
            </a:pPr>
            <a:r>
              <a:rPr lang="en-US" dirty="0"/>
              <a:t>Format:</a:t>
            </a:r>
          </a:p>
          <a:p>
            <a:pPr marL="914400" lvl="2" indent="0">
              <a:buNone/>
            </a:pPr>
            <a:r>
              <a:rPr lang="en-US" b="1" dirty="0"/>
              <a:t>task</a:t>
            </a:r>
            <a:r>
              <a:rPr lang="en-US" dirty="0"/>
              <a:t> </a:t>
            </a:r>
            <a:r>
              <a:rPr lang="en-US" b="1" dirty="0"/>
              <a:t>automatic</a:t>
            </a:r>
            <a:r>
              <a:rPr lang="en-US" dirty="0"/>
              <a:t> &lt;</a:t>
            </a:r>
            <a:r>
              <a:rPr lang="en-US" dirty="0" err="1"/>
              <a:t>task_name</a:t>
            </a:r>
            <a:r>
              <a:rPr lang="en-US" dirty="0"/>
              <a:t>&gt;</a:t>
            </a:r>
          </a:p>
          <a:p>
            <a:pPr marL="914400" lvl="2" indent="0">
              <a:buNone/>
            </a:pPr>
            <a:r>
              <a:rPr lang="en-US" b="1" dirty="0" err="1"/>
              <a:t>endtask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7BF0E-E958-75DF-B0FE-1FA7C293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230" y="4781113"/>
            <a:ext cx="1964445" cy="207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5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1161</Words>
  <Application>Microsoft Office PowerPoint</Application>
  <PresentationFormat>Widescreen</PresentationFormat>
  <Paragraphs>114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Macros, Functions and Tasks in Verilog</vt:lpstr>
      <vt:lpstr>`define Directive</vt:lpstr>
      <vt:lpstr>Functions</vt:lpstr>
      <vt:lpstr>Functions</vt:lpstr>
      <vt:lpstr>Functions</vt:lpstr>
      <vt:lpstr>`include Directive</vt:lpstr>
      <vt:lpstr>Example Function Call</vt:lpstr>
      <vt:lpstr>Example Function Call</vt:lpstr>
      <vt:lpstr>Example Function Call</vt:lpstr>
      <vt:lpstr>Example Function Call</vt:lpstr>
      <vt:lpstr>for loop</vt:lpstr>
      <vt:lpstr>PowerPoint Presentation</vt:lpstr>
      <vt:lpstr>Tasks</vt:lpstr>
      <vt:lpstr>Tasks</vt:lpstr>
      <vt:lpstr>Tasks</vt:lpstr>
      <vt:lpstr>Tasks</vt:lpstr>
      <vt:lpstr>`define Directive</vt:lpstr>
      <vt:lpstr>PowerPoint Presentation</vt:lpstr>
      <vt:lpstr>PowerPoint Presentation</vt:lpstr>
      <vt:lpstr>Static versus automatic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Tasks and Functions</dc:title>
  <dc:creator>Windows User</dc:creator>
  <cp:lastModifiedBy>Buren E Wells Jr</cp:lastModifiedBy>
  <cp:revision>32</cp:revision>
  <dcterms:created xsi:type="dcterms:W3CDTF">2020-04-13T19:07:10Z</dcterms:created>
  <dcterms:modified xsi:type="dcterms:W3CDTF">2026-02-25T22:06:02Z</dcterms:modified>
</cp:coreProperties>
</file>