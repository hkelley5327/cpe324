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04" r:id="rId2"/>
    <p:sldId id="306" r:id="rId3"/>
    <p:sldId id="308" r:id="rId4"/>
    <p:sldId id="309" r:id="rId5"/>
    <p:sldId id="310" r:id="rId6"/>
    <p:sldId id="301" r:id="rId7"/>
    <p:sldId id="322" r:id="rId8"/>
    <p:sldId id="323" r:id="rId9"/>
    <p:sldId id="316" r:id="rId10"/>
    <p:sldId id="307" r:id="rId11"/>
    <p:sldId id="311" r:id="rId12"/>
    <p:sldId id="312" r:id="rId13"/>
    <p:sldId id="313" r:id="rId14"/>
    <p:sldId id="314" r:id="rId15"/>
    <p:sldId id="315" r:id="rId16"/>
  </p:sldIdLst>
  <p:sldSz cx="9144000" cy="6858000" type="screen4x3"/>
  <p:notesSz cx="7086600" cy="93218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1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6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CC00"/>
    <a:srgbClr val="FFFF00"/>
    <a:srgbClr val="CC99FF"/>
    <a:srgbClr val="6699FF"/>
    <a:srgbClr val="333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3" autoAdjust="0"/>
    <p:restoredTop sz="88462" autoAdjust="0"/>
  </p:normalViewPr>
  <p:slideViewPr>
    <p:cSldViewPr snapToGrid="0">
      <p:cViewPr varScale="1">
        <p:scale>
          <a:sx n="104" d="100"/>
          <a:sy n="104" d="100"/>
        </p:scale>
        <p:origin x="342" y="114"/>
      </p:cViewPr>
      <p:guideLst>
        <p:guide orient="horz" pos="4319"/>
        <p:guide pos="1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26"/>
    </p:cViewPr>
  </p:sorterViewPr>
  <p:notesViewPr>
    <p:cSldViewPr snapToGrid="0">
      <p:cViewPr>
        <p:scale>
          <a:sx n="75" d="100"/>
          <a:sy n="75" d="100"/>
        </p:scale>
        <p:origin x="-1350" y="852"/>
      </p:cViewPr>
      <p:guideLst>
        <p:guide orient="horz" pos="2936"/>
        <p:guide pos="22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>
            <a:lvl1pPr defTabSz="901700">
              <a:spcBef>
                <a:spcPct val="20000"/>
              </a:spcBef>
              <a:buFontTx/>
              <a:buChar char="•"/>
              <a:defRPr sz="1200" b="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>
            <a:lvl1pPr algn="r" defTabSz="901700">
              <a:spcBef>
                <a:spcPct val="20000"/>
              </a:spcBef>
              <a:buFontTx/>
              <a:buChar char="•"/>
              <a:defRPr sz="1200" b="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5075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b" anchorCtr="0" compatLnSpc="1">
            <a:prstTxWarp prst="textNoShape">
              <a:avLst/>
            </a:prstTxWarp>
          </a:bodyPr>
          <a:lstStyle>
            <a:lvl1pPr defTabSz="901700">
              <a:spcBef>
                <a:spcPct val="20000"/>
              </a:spcBef>
              <a:buFontTx/>
              <a:buChar char="•"/>
              <a:defRPr sz="1200" b="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16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8855075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b" anchorCtr="0" compatLnSpc="1">
            <a:prstTxWarp prst="textNoShape">
              <a:avLst/>
            </a:prstTxWarp>
          </a:bodyPr>
          <a:lstStyle>
            <a:lvl1pPr algn="r" defTabSz="901700">
              <a:spcBef>
                <a:spcPct val="20000"/>
              </a:spcBef>
              <a:buFontTx/>
              <a:buChar char="•"/>
              <a:defRPr sz="1200" b="0" smtClean="0"/>
            </a:lvl1pPr>
          </a:lstStyle>
          <a:p>
            <a:pPr>
              <a:defRPr/>
            </a:pPr>
            <a:fld id="{7F6F3AAE-E143-4C24-BDC2-29BE8519362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>
            <a:lvl1pPr defTabSz="901700">
              <a:spcBef>
                <a:spcPct val="20000"/>
              </a:spcBef>
              <a:buFontTx/>
              <a:buChar char="•"/>
              <a:defRPr sz="1200" b="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>
            <a:lvl1pPr algn="r" defTabSz="901700">
              <a:spcBef>
                <a:spcPct val="20000"/>
              </a:spcBef>
              <a:buFontTx/>
              <a:buChar char="•"/>
              <a:defRPr sz="1200" b="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6025" y="698500"/>
            <a:ext cx="4660900" cy="3495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2975" y="4427538"/>
            <a:ext cx="5200650" cy="419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Click to edit Master text styles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5075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b" anchorCtr="0" compatLnSpc="1">
            <a:prstTxWarp prst="textNoShape">
              <a:avLst/>
            </a:prstTxWarp>
          </a:bodyPr>
          <a:lstStyle>
            <a:lvl1pPr defTabSz="901700">
              <a:spcBef>
                <a:spcPct val="20000"/>
              </a:spcBef>
              <a:buFontTx/>
              <a:buChar char="•"/>
              <a:defRPr sz="1200" b="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855075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b" anchorCtr="0" compatLnSpc="1">
            <a:prstTxWarp prst="textNoShape">
              <a:avLst/>
            </a:prstTxWarp>
          </a:bodyPr>
          <a:lstStyle>
            <a:lvl1pPr algn="r" defTabSz="901700">
              <a:spcBef>
                <a:spcPct val="20000"/>
              </a:spcBef>
              <a:buFontTx/>
              <a:buChar char="•"/>
              <a:defRPr sz="1200" b="0" smtClean="0"/>
            </a:lvl1pPr>
          </a:lstStyle>
          <a:p>
            <a:pPr>
              <a:defRPr/>
            </a:pPr>
            <a:fld id="{F868F819-DE41-4CBB-9A9B-29F6BB7F015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017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017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017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017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fld id="{C38CE41E-EE45-474C-96A1-8CE52204BDC9}" type="slidenum">
              <a:rPr lang="en-GB" altLang="en-US">
                <a:solidFill>
                  <a:srgbClr val="0000FF"/>
                </a:solidFill>
              </a:rPr>
              <a:pPr>
                <a:spcBef>
                  <a:spcPct val="20000"/>
                </a:spcBef>
              </a:pPr>
              <a:t>1</a:t>
            </a:fld>
            <a:endParaRPr lang="en-GB" altLang="en-US">
              <a:solidFill>
                <a:srgbClr val="0000FF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7613" y="700088"/>
            <a:ext cx="4659312" cy="3494087"/>
          </a:xfrm>
          <a:solidFill>
            <a:srgbClr val="FFFFFF"/>
          </a:solidFill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429125"/>
            <a:ext cx="5200650" cy="41925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394" tIns="45697" rIns="91394" bIns="45697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0113">
              <a:spcBef>
                <a:spcPct val="20000"/>
              </a:spcBef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  <a:lvl2pPr marL="747713" indent="-287338" defTabSz="900113">
              <a:spcBef>
                <a:spcPct val="20000"/>
              </a:spcBef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2pPr>
            <a:lvl3pPr marL="1150938" indent="-230188" defTabSz="900113">
              <a:spcBef>
                <a:spcPct val="20000"/>
              </a:spcBef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3pPr>
            <a:lvl4pPr marL="1612900" indent="-230188" defTabSz="900113">
              <a:spcBef>
                <a:spcPct val="20000"/>
              </a:spcBef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4pPr>
            <a:lvl5pPr marL="2073275" indent="-230188" defTabSz="900113">
              <a:spcBef>
                <a:spcPct val="20000"/>
              </a:spcBef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5pPr>
            <a:lvl6pPr marL="2530475" indent="-230188" defTabSz="900113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6pPr>
            <a:lvl7pPr marL="2987675" indent="-230188" defTabSz="900113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7pPr>
            <a:lvl8pPr marL="3444875" indent="-230188" defTabSz="900113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8pPr>
            <a:lvl9pPr marL="3902075" indent="-230188" defTabSz="900113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9pPr>
          </a:lstStyle>
          <a:p>
            <a:fld id="{44437A6F-AFEB-4FA6-9A0C-0B50547EC5F3}" type="slidenum">
              <a:rPr lang="en-GB" altLang="en-US" sz="1200" b="0"/>
              <a:pPr/>
              <a:t>2</a:t>
            </a:fld>
            <a:endParaRPr lang="en-GB" altLang="en-US" sz="1200" b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4438" y="698500"/>
            <a:ext cx="4664075" cy="3497263"/>
          </a:xfrm>
          <a:solidFill>
            <a:srgbClr val="FFFFFF"/>
          </a:solidFill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427538"/>
            <a:ext cx="5200650" cy="41989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01B41-3DF7-4B01-9450-F23347C56893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9186D-84ED-4DFF-A3DF-6039784048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260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4E1BDE-737D-4F1B-9F92-709A94812C5B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30E61C2-5745-409A-93DF-5A16C4DB8AD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983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09384E4-E65D-4F21-A4DA-5C3DFE511964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E131ECD-5BDF-4E5F-B0C1-C2D092EBFC9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2980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000" y="1036638"/>
            <a:ext cx="4241800" cy="5365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36638"/>
            <a:ext cx="4241800" cy="5365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54BE28-7DC0-4DFE-B4B6-CE4F1E6DC5ED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6485874-CDA7-4298-830A-78302F0EEA5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024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6AA8328-26ED-4BCB-B991-EB91093EAEFD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069A72C-044F-4E21-9B32-E59908CDDD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27883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EE23088-B8E6-45A4-B4B7-554DD8CB9D70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A4FC14-9DD9-4A63-B7EA-22EFA76D995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8439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4DCCF9-4537-41C5-B20B-6545FCFC57D0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1A277E7-A7F3-4402-B230-962E93FD4FE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7069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8F0FEA3-3B1B-4185-BEEB-7C7F797D6402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B6424C3-7AED-4BF1-80FA-EE7DABD76DC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87762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9570BC2-F08A-4371-8B4E-3A1FD5E4D9B8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9D9FD-27D7-4AA5-9DBB-ED492A487A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5189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56D1FB6-ABEA-48E2-BD51-5F3E4964C759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356442-45B7-471C-AA24-2E378BD445D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97989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3063" y="168275"/>
            <a:ext cx="2166937" cy="6234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250" y="168275"/>
            <a:ext cx="6348413" cy="6234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CA3603C-4848-4F14-9B5E-A75A5A65B238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D636F94-B613-4A9A-BF68-805FE52A56B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855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2250" y="168275"/>
            <a:ext cx="8647113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036638"/>
            <a:ext cx="8636000" cy="536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7175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 b="0" u="none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B10A656-054C-4076-AD0C-7B2E0F7042B9}" type="datetime1">
              <a:rPr lang="en-US" altLang="en-US"/>
              <a:pPr>
                <a:defRPr/>
              </a:pPr>
              <a:t>2/10/2025</a:t>
            </a:fld>
            <a:endParaRPr lang="en-GB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115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 b="0" u="none">
                <a:solidFill>
                  <a:schemeClr val="tx1"/>
                </a:solidFill>
                <a:sym typeface="Symbol" pitchFamily="18" charset="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7225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 b="0" u="none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FCD9118-C893-418B-BECB-A27A9E9FDB0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1" name="Line 8"/>
          <p:cNvSpPr>
            <a:spLocks noChangeShapeType="1"/>
          </p:cNvSpPr>
          <p:nvPr userDrawn="1"/>
        </p:nvSpPr>
        <p:spPr bwMode="auto">
          <a:xfrm flipV="1">
            <a:off x="692150" y="1854200"/>
            <a:ext cx="7685088" cy="1111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10"/>
          <p:cNvSpPr>
            <a:spLocks noChangeShapeType="1"/>
          </p:cNvSpPr>
          <p:nvPr userDrawn="1"/>
        </p:nvSpPr>
        <p:spPr bwMode="auto">
          <a:xfrm>
            <a:off x="247650" y="966788"/>
            <a:ext cx="8672513" cy="0"/>
          </a:xfrm>
          <a:prstGeom prst="line">
            <a:avLst/>
          </a:prstGeom>
          <a:noFill/>
          <a:ln w="57150" cmpd="thinThick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Line 11"/>
          <p:cNvSpPr>
            <a:spLocks noChangeShapeType="1"/>
          </p:cNvSpPr>
          <p:nvPr userDrawn="1"/>
        </p:nvSpPr>
        <p:spPr bwMode="auto">
          <a:xfrm>
            <a:off x="222250" y="6408738"/>
            <a:ext cx="8672513" cy="0"/>
          </a:xfrm>
          <a:prstGeom prst="line">
            <a:avLst/>
          </a:prstGeom>
          <a:noFill/>
          <a:ln w="2857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6525" y="1082675"/>
            <a:ext cx="6400800" cy="1471613"/>
          </a:xfrm>
        </p:spPr>
        <p:txBody>
          <a:bodyPr/>
          <a:lstStyle/>
          <a:p>
            <a:r>
              <a:rPr lang="en-US" altLang="en-US" sz="2000"/>
              <a:t>Electrical and Computer Engineering</a:t>
            </a:r>
            <a:br>
              <a:rPr lang="en-US" altLang="en-US" sz="2000"/>
            </a:br>
            <a:r>
              <a:rPr lang="en-US" altLang="en-US" sz="2000"/>
              <a:t>UAH</a:t>
            </a:r>
          </a:p>
          <a:p>
            <a:r>
              <a:rPr lang="en-US" altLang="en-US" sz="2400"/>
              <a:t>Extended State Graph Finite State Machine Representations</a:t>
            </a:r>
          </a:p>
          <a:p>
            <a:endParaRPr lang="en-US" altLang="en-US" sz="2400"/>
          </a:p>
          <a:p>
            <a:endParaRPr lang="en-GB" altLang="en-US" sz="240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22275" y="0"/>
            <a:ext cx="8161338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2800" u="none" kern="0"/>
              <a:t>CPE 322</a:t>
            </a:r>
            <a:br>
              <a:rPr lang="en-US" altLang="en-US" sz="2800" u="none" kern="0"/>
            </a:br>
            <a:r>
              <a:rPr lang="en-US" altLang="en-US" sz="2800" u="none" kern="0"/>
              <a:t>Digital Hardware Design Fundamentals</a:t>
            </a:r>
            <a:endParaRPr lang="en-GB" altLang="en-US" u="none" kern="0" dirty="0">
              <a:solidFill>
                <a:schemeClr val="tx1"/>
              </a:solidFill>
            </a:endParaRPr>
          </a:p>
        </p:txBody>
      </p:sp>
      <p:pic>
        <p:nvPicPr>
          <p:cNvPr id="14340" name="Picture 8" descr="Figure 1. DE2-115 Development Boar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886075"/>
            <a:ext cx="4357688" cy="314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1ED147-13D4-4CFF-913A-0E367B85396C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01E7DE-55B2-4BD9-96C0-1FB33CF1161C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0" y="168275"/>
            <a:ext cx="8648700" cy="7207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Extended State Graph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4000" y="1036638"/>
            <a:ext cx="8637588" cy="51466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marL="341313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Similarities to basic State (Transition) Graph</a:t>
            </a:r>
          </a:p>
          <a:p>
            <a:pPr marL="741363" lvl="1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Nodes represent states</a:t>
            </a:r>
          </a:p>
          <a:p>
            <a:pPr marL="741363" lvl="1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Arcs (or edges) represent transition between states</a:t>
            </a:r>
          </a:p>
          <a:p>
            <a:pPr marL="741363" lvl="1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Labelling on arcs represent Inputs/Outputs on Mealy Machines</a:t>
            </a:r>
          </a:p>
          <a:p>
            <a:pPr marL="741363" lvl="1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Labelling on arcs represent Inputs and labelling on nodes represent Outputs on Moore Machines</a:t>
            </a:r>
          </a:p>
          <a:p>
            <a:pPr marL="341313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Differences with basic State (Transition) Graph</a:t>
            </a:r>
          </a:p>
          <a:p>
            <a:pPr marL="741363" lvl="1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To reduce Clutter</a:t>
            </a:r>
          </a:p>
          <a:p>
            <a:pPr marL="1141413" lvl="2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Only Inputs that impact a transition from one state to another are present on the graph – others are ignored.</a:t>
            </a:r>
          </a:p>
          <a:p>
            <a:pPr marL="1141413" lvl="2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Only Outputs that are TRUE (logic high) for a given transition are listed.</a:t>
            </a:r>
          </a:p>
          <a:p>
            <a:pPr marL="800100" lvl="2" indent="0" defTabSz="457200"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 </a:t>
            </a:r>
          </a:p>
          <a:p>
            <a:pPr marL="1141413" lvl="2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  <a:p>
            <a:pPr marL="1141413" lvl="2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  <a:p>
            <a:pPr marL="741363" lvl="1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BCD to Excess 3 Mealy FSM Example</a:t>
            </a:r>
          </a:p>
        </p:txBody>
      </p:sp>
      <p:sp>
        <p:nvSpPr>
          <p:cNvPr id="18435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781510-C25E-4023-9B8F-C41A7B70050B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F4A441-BDC7-4CC0-82E5-657DF0150DCD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pic>
        <p:nvPicPr>
          <p:cNvPr id="1843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1847850"/>
            <a:ext cx="497205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4"/>
          <p:cNvSpPr txBox="1">
            <a:spLocks noChangeArrowheads="1"/>
          </p:cNvSpPr>
          <p:nvPr/>
        </p:nvSpPr>
        <p:spPr bwMode="auto">
          <a:xfrm>
            <a:off x="1190625" y="1958975"/>
            <a:ext cx="612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u="none">
                <a:latin typeface="Times New Roman" panose="02020603050405020304" pitchFamily="18" charset="0"/>
              </a:rPr>
              <a:t>X/Z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BCD to Excess 3 Mealy FSM Example</a:t>
            </a:r>
          </a:p>
        </p:txBody>
      </p:sp>
      <p:sp>
        <p:nvSpPr>
          <p:cNvPr id="19459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CEEF87-AADF-4180-A7A5-66166EAF6D13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3D47FD-9179-49D1-BB71-455E4F5A5DAB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1804988"/>
            <a:ext cx="497205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23825" y="5073650"/>
            <a:ext cx="8637588" cy="12414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141413" lvl="2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b="0" u="none" kern="0" dirty="0"/>
              <a:t>Only Inputs that impact a transition from one state to another are present on the graph – others are ignored.</a:t>
            </a:r>
          </a:p>
          <a:p>
            <a:pPr marL="1141413" lvl="2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b="0" u="none" kern="0" dirty="0"/>
              <a:t>Only Outputs that are TRUE (logic high) for a given transition are listed. </a:t>
            </a:r>
          </a:p>
          <a:p>
            <a:pPr marL="1141413" lvl="2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altLang="en-US" b="0" u="none" kern="0" dirty="0"/>
          </a:p>
          <a:p>
            <a:pPr marL="741363" lvl="1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altLang="en-US" b="0" u="none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69D536-D027-4483-BC0F-0DEE8233BE4E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0483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179BEE-B4C5-44A0-86A0-B261796D4A51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263" y="2060575"/>
            <a:ext cx="3911600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2106613"/>
            <a:ext cx="3875087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22250" y="168275"/>
            <a:ext cx="8647113" cy="7191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u="none" kern="0" dirty="0"/>
              <a:t>BCD to Excess 3 Mealy FSM Example</a:t>
            </a:r>
          </a:p>
        </p:txBody>
      </p:sp>
      <p:sp>
        <p:nvSpPr>
          <p:cNvPr id="20487" name="TextBox 6"/>
          <p:cNvSpPr txBox="1">
            <a:spLocks noChangeArrowheads="1"/>
          </p:cNvSpPr>
          <p:nvPr/>
        </p:nvSpPr>
        <p:spPr bwMode="auto">
          <a:xfrm>
            <a:off x="1190625" y="1958975"/>
            <a:ext cx="4413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200" u="none">
                <a:latin typeface="Times New Roman" panose="02020603050405020304" pitchFamily="18" charset="0"/>
              </a:rPr>
              <a:t>X/Z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8A5BCF-10EA-4282-858E-E27D193B635B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D268BD-E2E1-4C2C-8D3F-520248A0FB0A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1508" name="Rectangle 40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Add/Shift Multiplier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76BA36-7C56-4B92-A4D8-C3EB0BD3B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17" y="1171575"/>
            <a:ext cx="6835365" cy="3629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8A5BCF-10EA-4282-858E-E27D193B635B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D268BD-E2E1-4C2C-8D3F-520248A0FB0A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1508" name="Rectangle 40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4 bit Add/Shift Multiplier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B4DC59-7B82-4853-BD6D-9968A36C1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33" y="1548708"/>
            <a:ext cx="6442352" cy="376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9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8A5BCF-10EA-4282-858E-E27D193B635B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D268BD-E2E1-4C2C-8D3F-520248A0FB0A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1508" name="Rectangle 40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4-bit Add/Shift Multiplier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B4DC59-7B82-4853-BD6D-9968A36C1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379" y="1032464"/>
            <a:ext cx="2527116" cy="14751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7B3D88-9E08-4F95-9380-571F4403D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17" y="2697299"/>
            <a:ext cx="6526576" cy="362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50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D14622-7239-4ACD-BF9C-44C914F0B77C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2/11/2025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87B28B-8EFD-494C-9B2C-C42FFB2BED49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Extended State Graph </a:t>
            </a:r>
            <a:br>
              <a:rPr lang="en-US" altLang="en-US" dirty="0"/>
            </a:br>
            <a:r>
              <a:rPr lang="en-US" altLang="en-US" dirty="0"/>
              <a:t>for 4 bit Add/Shift Multiplier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CBC640-43C9-4820-A80C-3870D6C7C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534" y="1128030"/>
            <a:ext cx="6412191" cy="24277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D0A271-A7C0-4189-BC4D-E7EF4FED4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389" y="3608812"/>
            <a:ext cx="5033569" cy="27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05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D14622-7239-4ACD-BF9C-44C914F0B77C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87B28B-8EFD-494C-9B2C-C42FFB2BED49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Extended State Graph </a:t>
            </a:r>
            <a:br>
              <a:rPr lang="en-US" altLang="en-US" dirty="0"/>
            </a:br>
            <a:r>
              <a:rPr lang="en-US" altLang="en-US" dirty="0"/>
              <a:t>for 4 bit Add/Shift Multiplier</a:t>
            </a:r>
          </a:p>
        </p:txBody>
      </p:sp>
      <p:sp>
        <p:nvSpPr>
          <p:cNvPr id="8" name="Rectangle 4101"/>
          <p:cNvSpPr>
            <a:spLocks noChangeArrowheads="1"/>
          </p:cNvSpPr>
          <p:nvPr/>
        </p:nvSpPr>
        <p:spPr bwMode="auto">
          <a:xfrm>
            <a:off x="625475" y="5299075"/>
            <a:ext cx="8208963" cy="81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0188" indent="-2301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0" u="none" dirty="0">
                <a:solidFill>
                  <a:srgbClr val="3333FF"/>
                </a:solidFill>
              </a:rPr>
              <a:t>Note: ‘-’ on the input means no inputs are monitored and transition occurs to the next state no matter what the inputs are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EC3B9A-C365-425A-B668-0AFEF143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5" y="2215140"/>
            <a:ext cx="4572000" cy="24277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0EFFB7-C86B-496F-9D62-2E8C7608D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532" y="1461427"/>
            <a:ext cx="4177163" cy="38376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4BABA9-D8F8-443F-9D08-76E64FF44CA1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3555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E60A62-E15B-4036-A172-C58150FA1A3B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01" name="Title 1"/>
          <p:cNvSpPr txBox="1">
            <a:spLocks/>
          </p:cNvSpPr>
          <p:nvPr/>
        </p:nvSpPr>
        <p:spPr>
          <a:xfrm>
            <a:off x="222250" y="23813"/>
            <a:ext cx="8647113" cy="90487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u="none" kern="0" dirty="0"/>
              <a:t>BCD to Excess 3 Moore FSM Example</a:t>
            </a:r>
          </a:p>
          <a:p>
            <a:pPr>
              <a:defRPr/>
            </a:pPr>
            <a:r>
              <a:rPr lang="en-US" sz="2400" u="none" kern="0" dirty="0"/>
              <a:t>(Standard State Graph Representation)</a:t>
            </a:r>
          </a:p>
        </p:txBody>
      </p:sp>
      <p:grpSp>
        <p:nvGrpSpPr>
          <p:cNvPr id="23557" name="Group 3"/>
          <p:cNvGrpSpPr>
            <a:grpSpLocks/>
          </p:cNvGrpSpPr>
          <p:nvPr/>
        </p:nvGrpSpPr>
        <p:grpSpPr bwMode="auto">
          <a:xfrm>
            <a:off x="1655763" y="1519238"/>
            <a:ext cx="6010275" cy="3968750"/>
            <a:chOff x="213" y="648"/>
            <a:chExt cx="4907" cy="3452"/>
          </a:xfrm>
        </p:grpSpPr>
        <p:grpSp>
          <p:nvGrpSpPr>
            <p:cNvPr id="23558" name="Group 4"/>
            <p:cNvGrpSpPr>
              <a:grpSpLocks/>
            </p:cNvGrpSpPr>
            <p:nvPr/>
          </p:nvGrpSpPr>
          <p:grpSpPr bwMode="auto">
            <a:xfrm>
              <a:off x="2792" y="656"/>
              <a:ext cx="600" cy="474"/>
              <a:chOff x="2224" y="784"/>
              <a:chExt cx="600" cy="595"/>
            </a:xfrm>
          </p:grpSpPr>
          <p:sp>
            <p:nvSpPr>
              <p:cNvPr id="23652" name="Oval 5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3" name="Text Box 6"/>
              <p:cNvSpPr txBox="1">
                <a:spLocks noChangeArrowheads="1"/>
              </p:cNvSpPr>
              <p:nvPr/>
            </p:nvSpPr>
            <p:spPr bwMode="auto">
              <a:xfrm>
                <a:off x="2368" y="793"/>
                <a:ext cx="350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S0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4" name="Text Box 7"/>
              <p:cNvSpPr txBox="1">
                <a:spLocks noChangeArrowheads="1"/>
              </p:cNvSpPr>
              <p:nvPr/>
            </p:nvSpPr>
            <p:spPr bwMode="auto">
              <a:xfrm>
                <a:off x="2359" y="1011"/>
                <a:ext cx="353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59" name="Group 8"/>
            <p:cNvGrpSpPr>
              <a:grpSpLocks/>
            </p:cNvGrpSpPr>
            <p:nvPr/>
          </p:nvGrpSpPr>
          <p:grpSpPr bwMode="auto">
            <a:xfrm>
              <a:off x="1784" y="1216"/>
              <a:ext cx="600" cy="468"/>
              <a:chOff x="2224" y="784"/>
              <a:chExt cx="600" cy="600"/>
            </a:xfrm>
          </p:grpSpPr>
          <p:sp>
            <p:nvSpPr>
              <p:cNvPr id="23649" name="Oval 9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0" name="Text Box 10"/>
              <p:cNvSpPr txBox="1">
                <a:spLocks noChangeArrowheads="1"/>
              </p:cNvSpPr>
              <p:nvPr/>
            </p:nvSpPr>
            <p:spPr bwMode="auto">
              <a:xfrm>
                <a:off x="2369" y="792"/>
                <a:ext cx="350" cy="3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S1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1" name="Text Box 11"/>
              <p:cNvSpPr txBox="1">
                <a:spLocks noChangeArrowheads="1"/>
              </p:cNvSpPr>
              <p:nvPr/>
            </p:nvSpPr>
            <p:spPr bwMode="auto">
              <a:xfrm>
                <a:off x="2360" y="1008"/>
                <a:ext cx="352" cy="3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0" name="Group 12"/>
            <p:cNvGrpSpPr>
              <a:grpSpLocks/>
            </p:cNvGrpSpPr>
            <p:nvPr/>
          </p:nvGrpSpPr>
          <p:grpSpPr bwMode="auto">
            <a:xfrm>
              <a:off x="3776" y="1192"/>
              <a:ext cx="600" cy="485"/>
              <a:chOff x="2224" y="784"/>
              <a:chExt cx="600" cy="565"/>
            </a:xfrm>
          </p:grpSpPr>
          <p:sp>
            <p:nvSpPr>
              <p:cNvPr id="23646" name="Oval 13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7" name="Text Box 14"/>
              <p:cNvSpPr txBox="1">
                <a:spLocks noChangeArrowheads="1"/>
              </p:cNvSpPr>
              <p:nvPr/>
            </p:nvSpPr>
            <p:spPr bwMode="auto">
              <a:xfrm>
                <a:off x="2369" y="791"/>
                <a:ext cx="35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S2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8" name="Text Box 15"/>
              <p:cNvSpPr txBox="1">
                <a:spLocks noChangeArrowheads="1"/>
              </p:cNvSpPr>
              <p:nvPr/>
            </p:nvSpPr>
            <p:spPr bwMode="auto">
              <a:xfrm>
                <a:off x="2360" y="1008"/>
                <a:ext cx="35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1" name="Group 16"/>
            <p:cNvGrpSpPr>
              <a:grpSpLocks/>
            </p:cNvGrpSpPr>
            <p:nvPr/>
          </p:nvGrpSpPr>
          <p:grpSpPr bwMode="auto">
            <a:xfrm>
              <a:off x="1376" y="2056"/>
              <a:ext cx="600" cy="473"/>
              <a:chOff x="2224" y="784"/>
              <a:chExt cx="600" cy="593"/>
            </a:xfrm>
          </p:grpSpPr>
          <p:sp>
            <p:nvSpPr>
              <p:cNvPr id="23643" name="Oval 17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4" name="Text Box 18"/>
              <p:cNvSpPr txBox="1">
                <a:spLocks noChangeArrowheads="1"/>
              </p:cNvSpPr>
              <p:nvPr/>
            </p:nvSpPr>
            <p:spPr bwMode="auto">
              <a:xfrm>
                <a:off x="2367" y="793"/>
                <a:ext cx="352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S3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5" name="Text Box 19"/>
              <p:cNvSpPr txBox="1">
                <a:spLocks noChangeArrowheads="1"/>
              </p:cNvSpPr>
              <p:nvPr/>
            </p:nvSpPr>
            <p:spPr bwMode="auto">
              <a:xfrm>
                <a:off x="2360" y="1010"/>
                <a:ext cx="350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2" name="Group 20"/>
            <p:cNvGrpSpPr>
              <a:grpSpLocks/>
            </p:cNvGrpSpPr>
            <p:nvPr/>
          </p:nvGrpSpPr>
          <p:grpSpPr bwMode="auto">
            <a:xfrm>
              <a:off x="2752" y="2080"/>
              <a:ext cx="600" cy="475"/>
              <a:chOff x="2224" y="784"/>
              <a:chExt cx="600" cy="584"/>
            </a:xfrm>
          </p:grpSpPr>
          <p:sp>
            <p:nvSpPr>
              <p:cNvPr id="23640" name="Oval 21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1" name="Text Box 22"/>
              <p:cNvSpPr txBox="1">
                <a:spLocks noChangeArrowheads="1"/>
              </p:cNvSpPr>
              <p:nvPr/>
            </p:nvSpPr>
            <p:spPr bwMode="auto">
              <a:xfrm>
                <a:off x="2368" y="794"/>
                <a:ext cx="350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S4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2" name="Text Box 23"/>
              <p:cNvSpPr txBox="1">
                <a:spLocks noChangeArrowheads="1"/>
              </p:cNvSpPr>
              <p:nvPr/>
            </p:nvSpPr>
            <p:spPr bwMode="auto">
              <a:xfrm>
                <a:off x="2360" y="1008"/>
                <a:ext cx="349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3" name="Group 24"/>
            <p:cNvGrpSpPr>
              <a:grpSpLocks/>
            </p:cNvGrpSpPr>
            <p:nvPr/>
          </p:nvGrpSpPr>
          <p:grpSpPr bwMode="auto">
            <a:xfrm>
              <a:off x="3872" y="2080"/>
              <a:ext cx="600" cy="483"/>
              <a:chOff x="2224" y="784"/>
              <a:chExt cx="600" cy="572"/>
            </a:xfrm>
          </p:grpSpPr>
          <p:sp>
            <p:nvSpPr>
              <p:cNvPr id="23637" name="Oval 25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8" name="Text Box 26"/>
              <p:cNvSpPr txBox="1">
                <a:spLocks noChangeArrowheads="1"/>
              </p:cNvSpPr>
              <p:nvPr/>
            </p:nvSpPr>
            <p:spPr bwMode="auto">
              <a:xfrm>
                <a:off x="2368" y="790"/>
                <a:ext cx="350" cy="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S5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9" name="Text Box 27"/>
              <p:cNvSpPr txBox="1">
                <a:spLocks noChangeArrowheads="1"/>
              </p:cNvSpPr>
              <p:nvPr/>
            </p:nvSpPr>
            <p:spPr bwMode="auto">
              <a:xfrm>
                <a:off x="2359" y="1009"/>
                <a:ext cx="351" cy="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4" name="Group 28"/>
            <p:cNvGrpSpPr>
              <a:grpSpLocks/>
            </p:cNvGrpSpPr>
            <p:nvPr/>
          </p:nvGrpSpPr>
          <p:grpSpPr bwMode="auto">
            <a:xfrm>
              <a:off x="3464" y="2920"/>
              <a:ext cx="600" cy="479"/>
              <a:chOff x="2224" y="784"/>
              <a:chExt cx="600" cy="579"/>
            </a:xfrm>
          </p:grpSpPr>
          <p:sp>
            <p:nvSpPr>
              <p:cNvPr id="23634" name="Oval 29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5" name="Text Box 30"/>
              <p:cNvSpPr txBox="1">
                <a:spLocks noChangeArrowheads="1"/>
              </p:cNvSpPr>
              <p:nvPr/>
            </p:nvSpPr>
            <p:spPr bwMode="auto">
              <a:xfrm>
                <a:off x="2366" y="790"/>
                <a:ext cx="351" cy="3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S8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6" name="Text Box 31"/>
              <p:cNvSpPr txBox="1">
                <a:spLocks noChangeArrowheads="1"/>
              </p:cNvSpPr>
              <p:nvPr/>
            </p:nvSpPr>
            <p:spPr bwMode="auto">
              <a:xfrm>
                <a:off x="2358" y="1009"/>
                <a:ext cx="350" cy="3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5" name="Group 32"/>
            <p:cNvGrpSpPr>
              <a:grpSpLocks/>
            </p:cNvGrpSpPr>
            <p:nvPr/>
          </p:nvGrpSpPr>
          <p:grpSpPr bwMode="auto">
            <a:xfrm>
              <a:off x="2088" y="2896"/>
              <a:ext cx="600" cy="467"/>
              <a:chOff x="2224" y="784"/>
              <a:chExt cx="600" cy="600"/>
            </a:xfrm>
          </p:grpSpPr>
          <p:sp>
            <p:nvSpPr>
              <p:cNvPr id="23631" name="Oval 33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2" name="Text Box 34"/>
              <p:cNvSpPr txBox="1">
                <a:spLocks noChangeArrowheads="1"/>
              </p:cNvSpPr>
              <p:nvPr/>
            </p:nvSpPr>
            <p:spPr bwMode="auto">
              <a:xfrm>
                <a:off x="2370" y="793"/>
                <a:ext cx="350" cy="3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S7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3" name="Text Box 35"/>
              <p:cNvSpPr txBox="1">
                <a:spLocks noChangeArrowheads="1"/>
              </p:cNvSpPr>
              <p:nvPr/>
            </p:nvSpPr>
            <p:spPr bwMode="auto">
              <a:xfrm>
                <a:off x="2361" y="1007"/>
                <a:ext cx="349" cy="3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6" name="Group 36"/>
            <p:cNvGrpSpPr>
              <a:grpSpLocks/>
            </p:cNvGrpSpPr>
            <p:nvPr/>
          </p:nvGrpSpPr>
          <p:grpSpPr bwMode="auto">
            <a:xfrm>
              <a:off x="896" y="2864"/>
              <a:ext cx="600" cy="472"/>
              <a:chOff x="2224" y="784"/>
              <a:chExt cx="600" cy="592"/>
            </a:xfrm>
          </p:grpSpPr>
          <p:sp>
            <p:nvSpPr>
              <p:cNvPr id="23628" name="Oval 37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9" name="Text Box 38"/>
              <p:cNvSpPr txBox="1">
                <a:spLocks noChangeArrowheads="1"/>
              </p:cNvSpPr>
              <p:nvPr/>
            </p:nvSpPr>
            <p:spPr bwMode="auto">
              <a:xfrm>
                <a:off x="2369" y="793"/>
                <a:ext cx="350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S6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30" name="Text Box 39"/>
              <p:cNvSpPr txBox="1">
                <a:spLocks noChangeArrowheads="1"/>
              </p:cNvSpPr>
              <p:nvPr/>
            </p:nvSpPr>
            <p:spPr bwMode="auto">
              <a:xfrm>
                <a:off x="2360" y="1010"/>
                <a:ext cx="350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7" name="Group 40"/>
            <p:cNvGrpSpPr>
              <a:grpSpLocks/>
            </p:cNvGrpSpPr>
            <p:nvPr/>
          </p:nvGrpSpPr>
          <p:grpSpPr bwMode="auto">
            <a:xfrm>
              <a:off x="904" y="3544"/>
              <a:ext cx="600" cy="465"/>
              <a:chOff x="2224" y="784"/>
              <a:chExt cx="600" cy="608"/>
            </a:xfrm>
          </p:grpSpPr>
          <p:sp>
            <p:nvSpPr>
              <p:cNvPr id="23625" name="Oval 41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6" name="Text Box 42"/>
              <p:cNvSpPr txBox="1">
                <a:spLocks noChangeArrowheads="1"/>
              </p:cNvSpPr>
              <p:nvPr/>
            </p:nvSpPr>
            <p:spPr bwMode="auto">
              <a:xfrm>
                <a:off x="2368" y="791"/>
                <a:ext cx="351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S9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7" name="Text Box 43"/>
              <p:cNvSpPr txBox="1">
                <a:spLocks noChangeArrowheads="1"/>
              </p:cNvSpPr>
              <p:nvPr/>
            </p:nvSpPr>
            <p:spPr bwMode="auto">
              <a:xfrm>
                <a:off x="2359" y="1009"/>
                <a:ext cx="351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68" name="Group 44"/>
            <p:cNvGrpSpPr>
              <a:grpSpLocks/>
            </p:cNvGrpSpPr>
            <p:nvPr/>
          </p:nvGrpSpPr>
          <p:grpSpPr bwMode="auto">
            <a:xfrm>
              <a:off x="2096" y="3520"/>
              <a:ext cx="720" cy="465"/>
              <a:chOff x="2224" y="784"/>
              <a:chExt cx="600" cy="608"/>
            </a:xfrm>
          </p:grpSpPr>
          <p:sp>
            <p:nvSpPr>
              <p:cNvPr id="23622" name="Oval 45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3" name="Text Box 46"/>
              <p:cNvSpPr txBox="1">
                <a:spLocks noChangeArrowheads="1"/>
              </p:cNvSpPr>
              <p:nvPr/>
            </p:nvSpPr>
            <p:spPr bwMode="auto">
              <a:xfrm>
                <a:off x="2368" y="792"/>
                <a:ext cx="351" cy="3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S10</a:t>
                </a:r>
                <a:endParaRPr lang="en-US" altLang="en-US" sz="1600" b="0" u="none" baseline="-2500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4" name="Text Box 47"/>
              <p:cNvSpPr txBox="1">
                <a:spLocks noChangeArrowheads="1"/>
              </p:cNvSpPr>
              <p:nvPr/>
            </p:nvSpPr>
            <p:spPr bwMode="auto">
              <a:xfrm>
                <a:off x="2362" y="1010"/>
                <a:ext cx="348" cy="3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en-US" sz="1600" b="0" u="none" baseline="-25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69" name="Line 48"/>
            <p:cNvSpPr>
              <a:spLocks noChangeShapeType="1"/>
            </p:cNvSpPr>
            <p:nvPr/>
          </p:nvSpPr>
          <p:spPr bwMode="auto">
            <a:xfrm flipH="1">
              <a:off x="2288" y="968"/>
              <a:ext cx="56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Line 49"/>
            <p:cNvSpPr>
              <a:spLocks noChangeShapeType="1"/>
            </p:cNvSpPr>
            <p:nvPr/>
          </p:nvSpPr>
          <p:spPr bwMode="auto">
            <a:xfrm flipH="1">
              <a:off x="1696" y="1600"/>
              <a:ext cx="288" cy="4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Text Box 50"/>
            <p:cNvSpPr txBox="1">
              <a:spLocks noChangeArrowheads="1"/>
            </p:cNvSpPr>
            <p:nvPr/>
          </p:nvSpPr>
          <p:spPr bwMode="auto">
            <a:xfrm>
              <a:off x="2503" y="872"/>
              <a:ext cx="198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2" name="Text Box 51"/>
            <p:cNvSpPr txBox="1">
              <a:spLocks noChangeArrowheads="1"/>
            </p:cNvSpPr>
            <p:nvPr/>
          </p:nvSpPr>
          <p:spPr bwMode="auto">
            <a:xfrm>
              <a:off x="1416" y="1262"/>
              <a:ext cx="46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3" name="Text Box 52"/>
            <p:cNvSpPr txBox="1">
              <a:spLocks noChangeArrowheads="1"/>
            </p:cNvSpPr>
            <p:nvPr/>
          </p:nvSpPr>
          <p:spPr bwMode="auto">
            <a:xfrm>
              <a:off x="3512" y="1272"/>
              <a:ext cx="311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4" name="Line 53"/>
            <p:cNvSpPr>
              <a:spLocks noChangeShapeType="1"/>
            </p:cNvSpPr>
            <p:nvPr/>
          </p:nvSpPr>
          <p:spPr bwMode="auto">
            <a:xfrm>
              <a:off x="3360" y="976"/>
              <a:ext cx="61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Text Box 54"/>
            <p:cNvSpPr txBox="1">
              <a:spLocks noChangeArrowheads="1"/>
            </p:cNvSpPr>
            <p:nvPr/>
          </p:nvSpPr>
          <p:spPr bwMode="auto">
            <a:xfrm>
              <a:off x="3569" y="823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6" name="Text Box 55"/>
            <p:cNvSpPr txBox="1">
              <a:spLocks noChangeArrowheads="1"/>
            </p:cNvSpPr>
            <p:nvPr/>
          </p:nvSpPr>
          <p:spPr bwMode="auto">
            <a:xfrm>
              <a:off x="1649" y="1608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7" name="Line 56"/>
            <p:cNvSpPr>
              <a:spLocks noChangeShapeType="1"/>
            </p:cNvSpPr>
            <p:nvPr/>
          </p:nvSpPr>
          <p:spPr bwMode="auto">
            <a:xfrm>
              <a:off x="2296" y="1552"/>
              <a:ext cx="656" cy="5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Text Box 57"/>
            <p:cNvSpPr txBox="1">
              <a:spLocks noChangeArrowheads="1"/>
            </p:cNvSpPr>
            <p:nvPr/>
          </p:nvSpPr>
          <p:spPr bwMode="auto">
            <a:xfrm>
              <a:off x="1009" y="2088"/>
              <a:ext cx="461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9" name="Text Box 58"/>
            <p:cNvSpPr txBox="1">
              <a:spLocks noChangeArrowheads="1"/>
            </p:cNvSpPr>
            <p:nvPr/>
          </p:nvSpPr>
          <p:spPr bwMode="auto">
            <a:xfrm>
              <a:off x="2552" y="1551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0" name="Text Box 59"/>
            <p:cNvSpPr txBox="1">
              <a:spLocks noChangeArrowheads="1"/>
            </p:cNvSpPr>
            <p:nvPr/>
          </p:nvSpPr>
          <p:spPr bwMode="auto">
            <a:xfrm>
              <a:off x="2528" y="2160"/>
              <a:ext cx="31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1" name="Text Box 60"/>
            <p:cNvSpPr txBox="1">
              <a:spLocks noChangeArrowheads="1"/>
            </p:cNvSpPr>
            <p:nvPr/>
          </p:nvSpPr>
          <p:spPr bwMode="auto">
            <a:xfrm>
              <a:off x="3598" y="2160"/>
              <a:ext cx="313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2" name="Line 61"/>
            <p:cNvSpPr>
              <a:spLocks noChangeShapeType="1"/>
            </p:cNvSpPr>
            <p:nvPr/>
          </p:nvSpPr>
          <p:spPr bwMode="auto">
            <a:xfrm flipH="1">
              <a:off x="3288" y="1584"/>
              <a:ext cx="640" cy="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Text Box 62"/>
            <p:cNvSpPr txBox="1">
              <a:spLocks noChangeArrowheads="1"/>
            </p:cNvSpPr>
            <p:nvPr/>
          </p:nvSpPr>
          <p:spPr bwMode="auto">
            <a:xfrm>
              <a:off x="3471" y="1631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4" name="Text Box 63"/>
            <p:cNvSpPr txBox="1">
              <a:spLocks noChangeArrowheads="1"/>
            </p:cNvSpPr>
            <p:nvPr/>
          </p:nvSpPr>
          <p:spPr bwMode="auto">
            <a:xfrm>
              <a:off x="4153" y="1656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5" name="Line 64"/>
            <p:cNvSpPr>
              <a:spLocks noChangeShapeType="1"/>
            </p:cNvSpPr>
            <p:nvPr/>
          </p:nvSpPr>
          <p:spPr bwMode="auto">
            <a:xfrm>
              <a:off x="4112" y="1624"/>
              <a:ext cx="32" cy="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65"/>
            <p:cNvSpPr>
              <a:spLocks noChangeShapeType="1"/>
            </p:cNvSpPr>
            <p:nvPr/>
          </p:nvSpPr>
          <p:spPr bwMode="auto">
            <a:xfrm flipH="1">
              <a:off x="1240" y="2448"/>
              <a:ext cx="288" cy="4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Text Box 66"/>
            <p:cNvSpPr txBox="1">
              <a:spLocks noChangeArrowheads="1"/>
            </p:cNvSpPr>
            <p:nvPr/>
          </p:nvSpPr>
          <p:spPr bwMode="auto">
            <a:xfrm>
              <a:off x="536" y="2911"/>
              <a:ext cx="46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8" name="Line 67"/>
            <p:cNvSpPr>
              <a:spLocks noChangeShapeType="1"/>
            </p:cNvSpPr>
            <p:nvPr/>
          </p:nvSpPr>
          <p:spPr bwMode="auto">
            <a:xfrm>
              <a:off x="1832" y="2424"/>
              <a:ext cx="504" cy="4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Line 68"/>
            <p:cNvSpPr>
              <a:spLocks noChangeShapeType="1"/>
            </p:cNvSpPr>
            <p:nvPr/>
          </p:nvSpPr>
          <p:spPr bwMode="auto">
            <a:xfrm flipH="1">
              <a:off x="2480" y="2496"/>
              <a:ext cx="536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Line 69"/>
            <p:cNvSpPr>
              <a:spLocks noChangeShapeType="1"/>
            </p:cNvSpPr>
            <p:nvPr/>
          </p:nvSpPr>
          <p:spPr bwMode="auto">
            <a:xfrm>
              <a:off x="3152" y="2488"/>
              <a:ext cx="464" cy="4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Line 70"/>
            <p:cNvSpPr>
              <a:spLocks noChangeShapeType="1"/>
            </p:cNvSpPr>
            <p:nvPr/>
          </p:nvSpPr>
          <p:spPr bwMode="auto">
            <a:xfrm flipH="1">
              <a:off x="2632" y="2472"/>
              <a:ext cx="139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Line 71"/>
            <p:cNvSpPr>
              <a:spLocks noChangeShapeType="1"/>
            </p:cNvSpPr>
            <p:nvPr/>
          </p:nvSpPr>
          <p:spPr bwMode="auto">
            <a:xfrm flipH="1">
              <a:off x="3848" y="2504"/>
              <a:ext cx="424" cy="4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Text Box 72"/>
            <p:cNvSpPr txBox="1">
              <a:spLocks noChangeArrowheads="1"/>
            </p:cNvSpPr>
            <p:nvPr/>
          </p:nvSpPr>
          <p:spPr bwMode="auto">
            <a:xfrm>
              <a:off x="1736" y="2966"/>
              <a:ext cx="461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4" name="Text Box 73"/>
            <p:cNvSpPr txBox="1">
              <a:spLocks noChangeArrowheads="1"/>
            </p:cNvSpPr>
            <p:nvPr/>
          </p:nvSpPr>
          <p:spPr bwMode="auto">
            <a:xfrm>
              <a:off x="3232" y="2983"/>
              <a:ext cx="29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5" name="Line 74"/>
            <p:cNvSpPr>
              <a:spLocks noChangeShapeType="1"/>
            </p:cNvSpPr>
            <p:nvPr/>
          </p:nvSpPr>
          <p:spPr bwMode="auto">
            <a:xfrm flipH="1">
              <a:off x="1200" y="3264"/>
              <a:ext cx="16" cy="3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Line 75"/>
            <p:cNvSpPr>
              <a:spLocks noChangeShapeType="1"/>
            </p:cNvSpPr>
            <p:nvPr/>
          </p:nvSpPr>
          <p:spPr bwMode="auto">
            <a:xfrm>
              <a:off x="1376" y="3216"/>
              <a:ext cx="792" cy="3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Line 76"/>
            <p:cNvSpPr>
              <a:spLocks noChangeShapeType="1"/>
            </p:cNvSpPr>
            <p:nvPr/>
          </p:nvSpPr>
          <p:spPr bwMode="auto">
            <a:xfrm flipH="1">
              <a:off x="1392" y="3240"/>
              <a:ext cx="816" cy="3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Line 77"/>
            <p:cNvSpPr>
              <a:spLocks noChangeShapeType="1"/>
            </p:cNvSpPr>
            <p:nvPr/>
          </p:nvSpPr>
          <p:spPr bwMode="auto">
            <a:xfrm>
              <a:off x="2400" y="3280"/>
              <a:ext cx="40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Line 78"/>
            <p:cNvSpPr>
              <a:spLocks noChangeShapeType="1"/>
            </p:cNvSpPr>
            <p:nvPr/>
          </p:nvSpPr>
          <p:spPr bwMode="auto">
            <a:xfrm flipH="1">
              <a:off x="2752" y="3328"/>
              <a:ext cx="888" cy="2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Text Box 79"/>
            <p:cNvSpPr txBox="1">
              <a:spLocks noChangeArrowheads="1"/>
            </p:cNvSpPr>
            <p:nvPr/>
          </p:nvSpPr>
          <p:spPr bwMode="auto">
            <a:xfrm>
              <a:off x="528" y="3577"/>
              <a:ext cx="461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1" name="Text Box 80"/>
            <p:cNvSpPr txBox="1">
              <a:spLocks noChangeArrowheads="1"/>
            </p:cNvSpPr>
            <p:nvPr/>
          </p:nvSpPr>
          <p:spPr bwMode="auto">
            <a:xfrm>
              <a:off x="1720" y="3608"/>
              <a:ext cx="4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2" name="Text Box 81"/>
            <p:cNvSpPr txBox="1">
              <a:spLocks noChangeArrowheads="1"/>
            </p:cNvSpPr>
            <p:nvPr/>
          </p:nvSpPr>
          <p:spPr bwMode="auto">
            <a:xfrm>
              <a:off x="2310" y="648"/>
              <a:ext cx="46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chemeClr val="bg2"/>
                  </a:solidFill>
                  <a:latin typeface="Times New Roman" panose="02020603050405020304" pitchFamily="18" charset="0"/>
                </a:rPr>
                <a:t>Start</a:t>
              </a:r>
              <a:endParaRPr lang="en-US" altLang="en-US" sz="1400" b="0" u="none" baseline="-25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3" name="Text Box 82"/>
            <p:cNvSpPr txBox="1">
              <a:spLocks noChangeArrowheads="1"/>
            </p:cNvSpPr>
            <p:nvPr/>
          </p:nvSpPr>
          <p:spPr bwMode="auto">
            <a:xfrm>
              <a:off x="505" y="3270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4" name="Text Box 83"/>
            <p:cNvSpPr txBox="1">
              <a:spLocks noChangeArrowheads="1"/>
            </p:cNvSpPr>
            <p:nvPr/>
          </p:nvSpPr>
          <p:spPr bwMode="auto">
            <a:xfrm>
              <a:off x="4760" y="3486"/>
              <a:ext cx="198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5" name="Freeform 84"/>
            <p:cNvSpPr>
              <a:spLocks/>
            </p:cNvSpPr>
            <p:nvPr/>
          </p:nvSpPr>
          <p:spPr bwMode="auto">
            <a:xfrm>
              <a:off x="2784" y="1496"/>
              <a:ext cx="1859" cy="2328"/>
            </a:xfrm>
            <a:custGeom>
              <a:avLst/>
              <a:gdLst>
                <a:gd name="T0" fmla="*/ 0 w 1859"/>
                <a:gd name="T1" fmla="*/ 2328 h 2328"/>
                <a:gd name="T2" fmla="*/ 176 w 1859"/>
                <a:gd name="T3" fmla="*/ 2320 h 2328"/>
                <a:gd name="T4" fmla="*/ 408 w 1859"/>
                <a:gd name="T5" fmla="*/ 2280 h 2328"/>
                <a:gd name="T6" fmla="*/ 688 w 1859"/>
                <a:gd name="T7" fmla="*/ 2216 h 2328"/>
                <a:gd name="T8" fmla="*/ 728 w 1859"/>
                <a:gd name="T9" fmla="*/ 2168 h 2328"/>
                <a:gd name="T10" fmla="*/ 904 w 1859"/>
                <a:gd name="T11" fmla="*/ 2128 h 2328"/>
                <a:gd name="T12" fmla="*/ 1168 w 1859"/>
                <a:gd name="T13" fmla="*/ 2000 h 2328"/>
                <a:gd name="T14" fmla="*/ 1280 w 1859"/>
                <a:gd name="T15" fmla="*/ 1936 h 2328"/>
                <a:gd name="T16" fmla="*/ 1392 w 1859"/>
                <a:gd name="T17" fmla="*/ 1872 h 2328"/>
                <a:gd name="T18" fmla="*/ 1448 w 1859"/>
                <a:gd name="T19" fmla="*/ 1832 h 2328"/>
                <a:gd name="T20" fmla="*/ 1544 w 1859"/>
                <a:gd name="T21" fmla="*/ 1672 h 2328"/>
                <a:gd name="T22" fmla="*/ 1664 w 1859"/>
                <a:gd name="T23" fmla="*/ 1464 h 2328"/>
                <a:gd name="T24" fmla="*/ 1696 w 1859"/>
                <a:gd name="T25" fmla="*/ 1296 h 2328"/>
                <a:gd name="T26" fmla="*/ 1720 w 1859"/>
                <a:gd name="T27" fmla="*/ 1168 h 2328"/>
                <a:gd name="T28" fmla="*/ 1808 w 1859"/>
                <a:gd name="T29" fmla="*/ 1024 h 2328"/>
                <a:gd name="T30" fmla="*/ 1840 w 1859"/>
                <a:gd name="T31" fmla="*/ 920 h 2328"/>
                <a:gd name="T32" fmla="*/ 1848 w 1859"/>
                <a:gd name="T33" fmla="*/ 568 h 2328"/>
                <a:gd name="T34" fmla="*/ 1816 w 1859"/>
                <a:gd name="T35" fmla="*/ 408 h 2328"/>
                <a:gd name="T36" fmla="*/ 1776 w 1859"/>
                <a:gd name="T37" fmla="*/ 232 h 2328"/>
                <a:gd name="T38" fmla="*/ 1560 w 1859"/>
                <a:gd name="T39" fmla="*/ 0 h 232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859" h="2328">
                  <a:moveTo>
                    <a:pt x="0" y="2328"/>
                  </a:moveTo>
                  <a:cubicBezTo>
                    <a:pt x="59" y="2325"/>
                    <a:pt x="117" y="2324"/>
                    <a:pt x="176" y="2320"/>
                  </a:cubicBezTo>
                  <a:cubicBezTo>
                    <a:pt x="253" y="2315"/>
                    <a:pt x="331" y="2289"/>
                    <a:pt x="408" y="2280"/>
                  </a:cubicBezTo>
                  <a:cubicBezTo>
                    <a:pt x="501" y="2257"/>
                    <a:pt x="596" y="2247"/>
                    <a:pt x="688" y="2216"/>
                  </a:cubicBezTo>
                  <a:cubicBezTo>
                    <a:pt x="696" y="2204"/>
                    <a:pt x="714" y="2173"/>
                    <a:pt x="728" y="2168"/>
                  </a:cubicBezTo>
                  <a:cubicBezTo>
                    <a:pt x="781" y="2148"/>
                    <a:pt x="849" y="2144"/>
                    <a:pt x="904" y="2128"/>
                  </a:cubicBezTo>
                  <a:cubicBezTo>
                    <a:pt x="999" y="2101"/>
                    <a:pt x="1075" y="2031"/>
                    <a:pt x="1168" y="2000"/>
                  </a:cubicBezTo>
                  <a:cubicBezTo>
                    <a:pt x="1200" y="1968"/>
                    <a:pt x="1238" y="1950"/>
                    <a:pt x="1280" y="1936"/>
                  </a:cubicBezTo>
                  <a:cubicBezTo>
                    <a:pt x="1313" y="1911"/>
                    <a:pt x="1353" y="1885"/>
                    <a:pt x="1392" y="1872"/>
                  </a:cubicBezTo>
                  <a:cubicBezTo>
                    <a:pt x="1410" y="1858"/>
                    <a:pt x="1433" y="1849"/>
                    <a:pt x="1448" y="1832"/>
                  </a:cubicBezTo>
                  <a:cubicBezTo>
                    <a:pt x="1489" y="1785"/>
                    <a:pt x="1511" y="1724"/>
                    <a:pt x="1544" y="1672"/>
                  </a:cubicBezTo>
                  <a:cubicBezTo>
                    <a:pt x="1586" y="1604"/>
                    <a:pt x="1628" y="1535"/>
                    <a:pt x="1664" y="1464"/>
                  </a:cubicBezTo>
                  <a:cubicBezTo>
                    <a:pt x="1675" y="1408"/>
                    <a:pt x="1687" y="1353"/>
                    <a:pt x="1696" y="1296"/>
                  </a:cubicBezTo>
                  <a:cubicBezTo>
                    <a:pt x="1703" y="1254"/>
                    <a:pt x="1703" y="1208"/>
                    <a:pt x="1720" y="1168"/>
                  </a:cubicBezTo>
                  <a:cubicBezTo>
                    <a:pt x="1743" y="1115"/>
                    <a:pt x="1785" y="1075"/>
                    <a:pt x="1808" y="1024"/>
                  </a:cubicBezTo>
                  <a:cubicBezTo>
                    <a:pt x="1823" y="991"/>
                    <a:pt x="1829" y="954"/>
                    <a:pt x="1840" y="920"/>
                  </a:cubicBezTo>
                  <a:cubicBezTo>
                    <a:pt x="1855" y="767"/>
                    <a:pt x="1859" y="786"/>
                    <a:pt x="1848" y="568"/>
                  </a:cubicBezTo>
                  <a:cubicBezTo>
                    <a:pt x="1845" y="512"/>
                    <a:pt x="1825" y="463"/>
                    <a:pt x="1816" y="408"/>
                  </a:cubicBezTo>
                  <a:cubicBezTo>
                    <a:pt x="1807" y="353"/>
                    <a:pt x="1799" y="283"/>
                    <a:pt x="1776" y="232"/>
                  </a:cubicBezTo>
                  <a:cubicBezTo>
                    <a:pt x="1739" y="151"/>
                    <a:pt x="1624" y="64"/>
                    <a:pt x="156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85"/>
            <p:cNvSpPr>
              <a:spLocks/>
            </p:cNvSpPr>
            <p:nvPr/>
          </p:nvSpPr>
          <p:spPr bwMode="auto">
            <a:xfrm>
              <a:off x="1432" y="1372"/>
              <a:ext cx="3688" cy="2637"/>
            </a:xfrm>
            <a:custGeom>
              <a:avLst/>
              <a:gdLst>
                <a:gd name="T0" fmla="*/ 0 w 3688"/>
                <a:gd name="T1" fmla="*/ 2508 h 2637"/>
                <a:gd name="T2" fmla="*/ 744 w 3688"/>
                <a:gd name="T3" fmla="*/ 2532 h 2637"/>
                <a:gd name="T4" fmla="*/ 992 w 3688"/>
                <a:gd name="T5" fmla="*/ 2572 h 2637"/>
                <a:gd name="T6" fmla="*/ 1104 w 3688"/>
                <a:gd name="T7" fmla="*/ 2604 h 2637"/>
                <a:gd name="T8" fmla="*/ 1248 w 3688"/>
                <a:gd name="T9" fmla="*/ 2620 h 2637"/>
                <a:gd name="T10" fmla="*/ 2416 w 3688"/>
                <a:gd name="T11" fmla="*/ 2588 h 2637"/>
                <a:gd name="T12" fmla="*/ 2624 w 3688"/>
                <a:gd name="T13" fmla="*/ 2548 h 2637"/>
                <a:gd name="T14" fmla="*/ 2680 w 3688"/>
                <a:gd name="T15" fmla="*/ 2532 h 2637"/>
                <a:gd name="T16" fmla="*/ 2728 w 3688"/>
                <a:gd name="T17" fmla="*/ 2516 h 2637"/>
                <a:gd name="T18" fmla="*/ 2888 w 3688"/>
                <a:gd name="T19" fmla="*/ 2444 h 2637"/>
                <a:gd name="T20" fmla="*/ 3064 w 3688"/>
                <a:gd name="T21" fmla="*/ 2356 h 2637"/>
                <a:gd name="T22" fmla="*/ 3168 w 3688"/>
                <a:gd name="T23" fmla="*/ 2316 h 2637"/>
                <a:gd name="T24" fmla="*/ 3360 w 3688"/>
                <a:gd name="T25" fmla="*/ 2132 h 2637"/>
                <a:gd name="T26" fmla="*/ 3392 w 3688"/>
                <a:gd name="T27" fmla="*/ 2084 h 2637"/>
                <a:gd name="T28" fmla="*/ 3424 w 3688"/>
                <a:gd name="T29" fmla="*/ 2044 h 2637"/>
                <a:gd name="T30" fmla="*/ 3496 w 3688"/>
                <a:gd name="T31" fmla="*/ 1964 h 2637"/>
                <a:gd name="T32" fmla="*/ 3584 w 3688"/>
                <a:gd name="T33" fmla="*/ 1836 h 2637"/>
                <a:gd name="T34" fmla="*/ 3640 w 3688"/>
                <a:gd name="T35" fmla="*/ 1676 h 2637"/>
                <a:gd name="T36" fmla="*/ 3664 w 3688"/>
                <a:gd name="T37" fmla="*/ 1556 h 2637"/>
                <a:gd name="T38" fmla="*/ 3688 w 3688"/>
                <a:gd name="T39" fmla="*/ 1300 h 2637"/>
                <a:gd name="T40" fmla="*/ 3680 w 3688"/>
                <a:gd name="T41" fmla="*/ 692 h 2637"/>
                <a:gd name="T42" fmla="*/ 3656 w 3688"/>
                <a:gd name="T43" fmla="*/ 580 h 2637"/>
                <a:gd name="T44" fmla="*/ 3608 w 3688"/>
                <a:gd name="T45" fmla="*/ 484 h 2637"/>
                <a:gd name="T46" fmla="*/ 3504 w 3688"/>
                <a:gd name="T47" fmla="*/ 324 h 2637"/>
                <a:gd name="T48" fmla="*/ 3472 w 3688"/>
                <a:gd name="T49" fmla="*/ 276 h 2637"/>
                <a:gd name="T50" fmla="*/ 3216 w 3688"/>
                <a:gd name="T51" fmla="*/ 132 h 2637"/>
                <a:gd name="T52" fmla="*/ 3088 w 3688"/>
                <a:gd name="T53" fmla="*/ 52 h 2637"/>
                <a:gd name="T54" fmla="*/ 2944 w 3688"/>
                <a:gd name="T55" fmla="*/ 12 h 263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688" h="2637">
                  <a:moveTo>
                    <a:pt x="0" y="2508"/>
                  </a:moveTo>
                  <a:cubicBezTo>
                    <a:pt x="241" y="2538"/>
                    <a:pt x="501" y="2527"/>
                    <a:pt x="744" y="2532"/>
                  </a:cubicBezTo>
                  <a:cubicBezTo>
                    <a:pt x="826" y="2548"/>
                    <a:pt x="909" y="2560"/>
                    <a:pt x="992" y="2572"/>
                  </a:cubicBezTo>
                  <a:cubicBezTo>
                    <a:pt x="1031" y="2578"/>
                    <a:pt x="1067" y="2592"/>
                    <a:pt x="1104" y="2604"/>
                  </a:cubicBezTo>
                  <a:cubicBezTo>
                    <a:pt x="1150" y="2619"/>
                    <a:pt x="1200" y="2614"/>
                    <a:pt x="1248" y="2620"/>
                  </a:cubicBezTo>
                  <a:cubicBezTo>
                    <a:pt x="1689" y="2616"/>
                    <a:pt x="2021" y="2637"/>
                    <a:pt x="2416" y="2588"/>
                  </a:cubicBezTo>
                  <a:cubicBezTo>
                    <a:pt x="2474" y="2569"/>
                    <a:pt x="2562" y="2556"/>
                    <a:pt x="2624" y="2548"/>
                  </a:cubicBezTo>
                  <a:cubicBezTo>
                    <a:pt x="2705" y="2521"/>
                    <a:pt x="2580" y="2562"/>
                    <a:pt x="2680" y="2532"/>
                  </a:cubicBezTo>
                  <a:cubicBezTo>
                    <a:pt x="2696" y="2527"/>
                    <a:pt x="2728" y="2516"/>
                    <a:pt x="2728" y="2516"/>
                  </a:cubicBezTo>
                  <a:cubicBezTo>
                    <a:pt x="2775" y="2481"/>
                    <a:pt x="2831" y="2458"/>
                    <a:pt x="2888" y="2444"/>
                  </a:cubicBezTo>
                  <a:cubicBezTo>
                    <a:pt x="2936" y="2412"/>
                    <a:pt x="3010" y="2374"/>
                    <a:pt x="3064" y="2356"/>
                  </a:cubicBezTo>
                  <a:cubicBezTo>
                    <a:pt x="3100" y="2344"/>
                    <a:pt x="3135" y="2335"/>
                    <a:pt x="3168" y="2316"/>
                  </a:cubicBezTo>
                  <a:cubicBezTo>
                    <a:pt x="3246" y="2272"/>
                    <a:pt x="3298" y="2194"/>
                    <a:pt x="3360" y="2132"/>
                  </a:cubicBezTo>
                  <a:cubicBezTo>
                    <a:pt x="3378" y="2059"/>
                    <a:pt x="3352" y="2134"/>
                    <a:pt x="3392" y="2084"/>
                  </a:cubicBezTo>
                  <a:cubicBezTo>
                    <a:pt x="3436" y="2029"/>
                    <a:pt x="3355" y="2090"/>
                    <a:pt x="3424" y="2044"/>
                  </a:cubicBezTo>
                  <a:cubicBezTo>
                    <a:pt x="3444" y="2014"/>
                    <a:pt x="3496" y="1964"/>
                    <a:pt x="3496" y="1964"/>
                  </a:cubicBezTo>
                  <a:cubicBezTo>
                    <a:pt x="3511" y="1919"/>
                    <a:pt x="3550" y="1870"/>
                    <a:pt x="3584" y="1836"/>
                  </a:cubicBezTo>
                  <a:cubicBezTo>
                    <a:pt x="3602" y="1783"/>
                    <a:pt x="3619" y="1728"/>
                    <a:pt x="3640" y="1676"/>
                  </a:cubicBezTo>
                  <a:cubicBezTo>
                    <a:pt x="3647" y="1636"/>
                    <a:pt x="3654" y="1596"/>
                    <a:pt x="3664" y="1556"/>
                  </a:cubicBezTo>
                  <a:cubicBezTo>
                    <a:pt x="3673" y="1471"/>
                    <a:pt x="3681" y="1386"/>
                    <a:pt x="3688" y="1300"/>
                  </a:cubicBezTo>
                  <a:cubicBezTo>
                    <a:pt x="3685" y="1097"/>
                    <a:pt x="3685" y="895"/>
                    <a:pt x="3680" y="692"/>
                  </a:cubicBezTo>
                  <a:cubicBezTo>
                    <a:pt x="3679" y="663"/>
                    <a:pt x="3666" y="607"/>
                    <a:pt x="3656" y="580"/>
                  </a:cubicBezTo>
                  <a:cubicBezTo>
                    <a:pt x="3643" y="547"/>
                    <a:pt x="3617" y="519"/>
                    <a:pt x="3608" y="484"/>
                  </a:cubicBezTo>
                  <a:cubicBezTo>
                    <a:pt x="3591" y="418"/>
                    <a:pt x="3544" y="376"/>
                    <a:pt x="3504" y="324"/>
                  </a:cubicBezTo>
                  <a:cubicBezTo>
                    <a:pt x="3492" y="309"/>
                    <a:pt x="3487" y="288"/>
                    <a:pt x="3472" y="276"/>
                  </a:cubicBezTo>
                  <a:cubicBezTo>
                    <a:pt x="3392" y="216"/>
                    <a:pt x="3305" y="176"/>
                    <a:pt x="3216" y="132"/>
                  </a:cubicBezTo>
                  <a:cubicBezTo>
                    <a:pt x="3172" y="110"/>
                    <a:pt x="3133" y="67"/>
                    <a:pt x="3088" y="52"/>
                  </a:cubicBezTo>
                  <a:cubicBezTo>
                    <a:pt x="3036" y="0"/>
                    <a:pt x="3036" y="12"/>
                    <a:pt x="2944" y="1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Text Box 86"/>
            <p:cNvSpPr txBox="1">
              <a:spLocks noChangeArrowheads="1"/>
            </p:cNvSpPr>
            <p:nvPr/>
          </p:nvSpPr>
          <p:spPr bwMode="auto">
            <a:xfrm>
              <a:off x="3576" y="3577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8" name="Freeform 87"/>
            <p:cNvSpPr>
              <a:spLocks/>
            </p:cNvSpPr>
            <p:nvPr/>
          </p:nvSpPr>
          <p:spPr bwMode="auto">
            <a:xfrm>
              <a:off x="495" y="1488"/>
              <a:ext cx="1313" cy="2184"/>
            </a:xfrm>
            <a:custGeom>
              <a:avLst/>
              <a:gdLst>
                <a:gd name="T0" fmla="*/ 417 w 1313"/>
                <a:gd name="T1" fmla="*/ 2184 h 2184"/>
                <a:gd name="T2" fmla="*/ 393 w 1313"/>
                <a:gd name="T3" fmla="*/ 2160 h 2184"/>
                <a:gd name="T4" fmla="*/ 361 w 1313"/>
                <a:gd name="T5" fmla="*/ 2144 h 2184"/>
                <a:gd name="T6" fmla="*/ 345 w 1313"/>
                <a:gd name="T7" fmla="*/ 2120 h 2184"/>
                <a:gd name="T8" fmla="*/ 321 w 1313"/>
                <a:gd name="T9" fmla="*/ 2104 h 2184"/>
                <a:gd name="T10" fmla="*/ 233 w 1313"/>
                <a:gd name="T11" fmla="*/ 1992 h 2184"/>
                <a:gd name="T12" fmla="*/ 193 w 1313"/>
                <a:gd name="T13" fmla="*/ 1944 h 2184"/>
                <a:gd name="T14" fmla="*/ 161 w 1313"/>
                <a:gd name="T15" fmla="*/ 1872 h 2184"/>
                <a:gd name="T16" fmla="*/ 129 w 1313"/>
                <a:gd name="T17" fmla="*/ 1840 h 2184"/>
                <a:gd name="T18" fmla="*/ 33 w 1313"/>
                <a:gd name="T19" fmla="*/ 1728 h 2184"/>
                <a:gd name="T20" fmla="*/ 9 w 1313"/>
                <a:gd name="T21" fmla="*/ 1632 h 2184"/>
                <a:gd name="T22" fmla="*/ 49 w 1313"/>
                <a:gd name="T23" fmla="*/ 1296 h 2184"/>
                <a:gd name="T24" fmla="*/ 153 w 1313"/>
                <a:gd name="T25" fmla="*/ 1032 h 2184"/>
                <a:gd name="T26" fmla="*/ 241 w 1313"/>
                <a:gd name="T27" fmla="*/ 888 h 2184"/>
                <a:gd name="T28" fmla="*/ 361 w 1313"/>
                <a:gd name="T29" fmla="*/ 720 h 2184"/>
                <a:gd name="T30" fmla="*/ 393 w 1313"/>
                <a:gd name="T31" fmla="*/ 696 h 2184"/>
                <a:gd name="T32" fmla="*/ 465 w 1313"/>
                <a:gd name="T33" fmla="*/ 624 h 2184"/>
                <a:gd name="T34" fmla="*/ 505 w 1313"/>
                <a:gd name="T35" fmla="*/ 568 h 2184"/>
                <a:gd name="T36" fmla="*/ 665 w 1313"/>
                <a:gd name="T37" fmla="*/ 360 h 2184"/>
                <a:gd name="T38" fmla="*/ 697 w 1313"/>
                <a:gd name="T39" fmla="*/ 264 h 2184"/>
                <a:gd name="T40" fmla="*/ 713 w 1313"/>
                <a:gd name="T41" fmla="*/ 192 h 2184"/>
                <a:gd name="T42" fmla="*/ 801 w 1313"/>
                <a:gd name="T43" fmla="*/ 152 h 2184"/>
                <a:gd name="T44" fmla="*/ 1113 w 1313"/>
                <a:gd name="T45" fmla="*/ 88 h 2184"/>
                <a:gd name="T46" fmla="*/ 1241 w 1313"/>
                <a:gd name="T47" fmla="*/ 48 h 2184"/>
                <a:gd name="T48" fmla="*/ 1289 w 1313"/>
                <a:gd name="T49" fmla="*/ 16 h 2184"/>
                <a:gd name="T50" fmla="*/ 1313 w 1313"/>
                <a:gd name="T51" fmla="*/ 0 h 218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313" h="2184">
                  <a:moveTo>
                    <a:pt x="417" y="2184"/>
                  </a:moveTo>
                  <a:cubicBezTo>
                    <a:pt x="409" y="2176"/>
                    <a:pt x="402" y="2167"/>
                    <a:pt x="393" y="2160"/>
                  </a:cubicBezTo>
                  <a:cubicBezTo>
                    <a:pt x="383" y="2153"/>
                    <a:pt x="370" y="2152"/>
                    <a:pt x="361" y="2144"/>
                  </a:cubicBezTo>
                  <a:cubicBezTo>
                    <a:pt x="354" y="2138"/>
                    <a:pt x="352" y="2127"/>
                    <a:pt x="345" y="2120"/>
                  </a:cubicBezTo>
                  <a:cubicBezTo>
                    <a:pt x="338" y="2113"/>
                    <a:pt x="329" y="2109"/>
                    <a:pt x="321" y="2104"/>
                  </a:cubicBezTo>
                  <a:cubicBezTo>
                    <a:pt x="294" y="2063"/>
                    <a:pt x="274" y="2019"/>
                    <a:pt x="233" y="1992"/>
                  </a:cubicBezTo>
                  <a:cubicBezTo>
                    <a:pt x="231" y="1988"/>
                    <a:pt x="193" y="1945"/>
                    <a:pt x="193" y="1944"/>
                  </a:cubicBezTo>
                  <a:cubicBezTo>
                    <a:pt x="180" y="1924"/>
                    <a:pt x="175" y="1892"/>
                    <a:pt x="161" y="1872"/>
                  </a:cubicBezTo>
                  <a:cubicBezTo>
                    <a:pt x="152" y="1860"/>
                    <a:pt x="138" y="1852"/>
                    <a:pt x="129" y="1840"/>
                  </a:cubicBezTo>
                  <a:cubicBezTo>
                    <a:pt x="97" y="1800"/>
                    <a:pt x="76" y="1757"/>
                    <a:pt x="33" y="1728"/>
                  </a:cubicBezTo>
                  <a:cubicBezTo>
                    <a:pt x="12" y="1665"/>
                    <a:pt x="20" y="1697"/>
                    <a:pt x="9" y="1632"/>
                  </a:cubicBezTo>
                  <a:cubicBezTo>
                    <a:pt x="13" y="1533"/>
                    <a:pt x="0" y="1394"/>
                    <a:pt x="49" y="1296"/>
                  </a:cubicBezTo>
                  <a:cubicBezTo>
                    <a:pt x="67" y="1204"/>
                    <a:pt x="101" y="1110"/>
                    <a:pt x="153" y="1032"/>
                  </a:cubicBezTo>
                  <a:cubicBezTo>
                    <a:pt x="182" y="988"/>
                    <a:pt x="196" y="918"/>
                    <a:pt x="241" y="888"/>
                  </a:cubicBezTo>
                  <a:cubicBezTo>
                    <a:pt x="279" y="831"/>
                    <a:pt x="323" y="777"/>
                    <a:pt x="361" y="720"/>
                  </a:cubicBezTo>
                  <a:cubicBezTo>
                    <a:pt x="368" y="709"/>
                    <a:pt x="383" y="705"/>
                    <a:pt x="393" y="696"/>
                  </a:cubicBezTo>
                  <a:cubicBezTo>
                    <a:pt x="418" y="673"/>
                    <a:pt x="441" y="648"/>
                    <a:pt x="465" y="624"/>
                  </a:cubicBezTo>
                  <a:cubicBezTo>
                    <a:pt x="513" y="576"/>
                    <a:pt x="469" y="609"/>
                    <a:pt x="505" y="568"/>
                  </a:cubicBezTo>
                  <a:cubicBezTo>
                    <a:pt x="564" y="501"/>
                    <a:pt x="615" y="435"/>
                    <a:pt x="665" y="360"/>
                  </a:cubicBezTo>
                  <a:cubicBezTo>
                    <a:pt x="673" y="326"/>
                    <a:pt x="689" y="298"/>
                    <a:pt x="697" y="264"/>
                  </a:cubicBezTo>
                  <a:cubicBezTo>
                    <a:pt x="702" y="240"/>
                    <a:pt x="697" y="211"/>
                    <a:pt x="713" y="192"/>
                  </a:cubicBezTo>
                  <a:cubicBezTo>
                    <a:pt x="730" y="172"/>
                    <a:pt x="778" y="160"/>
                    <a:pt x="801" y="152"/>
                  </a:cubicBezTo>
                  <a:cubicBezTo>
                    <a:pt x="902" y="118"/>
                    <a:pt x="1008" y="103"/>
                    <a:pt x="1113" y="88"/>
                  </a:cubicBezTo>
                  <a:cubicBezTo>
                    <a:pt x="1155" y="74"/>
                    <a:pt x="1199" y="62"/>
                    <a:pt x="1241" y="48"/>
                  </a:cubicBezTo>
                  <a:cubicBezTo>
                    <a:pt x="1259" y="42"/>
                    <a:pt x="1273" y="27"/>
                    <a:pt x="1289" y="16"/>
                  </a:cubicBezTo>
                  <a:cubicBezTo>
                    <a:pt x="1297" y="11"/>
                    <a:pt x="1313" y="0"/>
                    <a:pt x="1313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88"/>
            <p:cNvSpPr>
              <a:spLocks/>
            </p:cNvSpPr>
            <p:nvPr/>
          </p:nvSpPr>
          <p:spPr bwMode="auto">
            <a:xfrm>
              <a:off x="213" y="1272"/>
              <a:ext cx="1963" cy="2828"/>
            </a:xfrm>
            <a:custGeom>
              <a:avLst/>
              <a:gdLst>
                <a:gd name="T0" fmla="*/ 1963 w 1963"/>
                <a:gd name="T1" fmla="*/ 2560 h 2828"/>
                <a:gd name="T2" fmla="*/ 1795 w 1963"/>
                <a:gd name="T3" fmla="*/ 2584 h 2828"/>
                <a:gd name="T4" fmla="*/ 1779 w 1963"/>
                <a:gd name="T5" fmla="*/ 2736 h 2828"/>
                <a:gd name="T6" fmla="*/ 1683 w 1963"/>
                <a:gd name="T7" fmla="*/ 2784 h 2828"/>
                <a:gd name="T8" fmla="*/ 1635 w 1963"/>
                <a:gd name="T9" fmla="*/ 2800 h 2828"/>
                <a:gd name="T10" fmla="*/ 651 w 1963"/>
                <a:gd name="T11" fmla="*/ 2760 h 2828"/>
                <a:gd name="T12" fmla="*/ 499 w 1963"/>
                <a:gd name="T13" fmla="*/ 2704 h 2828"/>
                <a:gd name="T14" fmla="*/ 347 w 1963"/>
                <a:gd name="T15" fmla="*/ 2592 h 2828"/>
                <a:gd name="T16" fmla="*/ 299 w 1963"/>
                <a:gd name="T17" fmla="*/ 2552 h 2828"/>
                <a:gd name="T18" fmla="*/ 187 w 1963"/>
                <a:gd name="T19" fmla="*/ 2448 h 2828"/>
                <a:gd name="T20" fmla="*/ 139 w 1963"/>
                <a:gd name="T21" fmla="*/ 2400 h 2828"/>
                <a:gd name="T22" fmla="*/ 91 w 1963"/>
                <a:gd name="T23" fmla="*/ 2320 h 2828"/>
                <a:gd name="T24" fmla="*/ 67 w 1963"/>
                <a:gd name="T25" fmla="*/ 2272 h 2828"/>
                <a:gd name="T26" fmla="*/ 35 w 1963"/>
                <a:gd name="T27" fmla="*/ 2192 h 2828"/>
                <a:gd name="T28" fmla="*/ 91 w 1963"/>
                <a:gd name="T29" fmla="*/ 1472 h 2828"/>
                <a:gd name="T30" fmla="*/ 107 w 1963"/>
                <a:gd name="T31" fmla="*/ 1400 h 2828"/>
                <a:gd name="T32" fmla="*/ 155 w 1963"/>
                <a:gd name="T33" fmla="*/ 1312 h 2828"/>
                <a:gd name="T34" fmla="*/ 211 w 1963"/>
                <a:gd name="T35" fmla="*/ 1176 h 2828"/>
                <a:gd name="T36" fmla="*/ 243 w 1963"/>
                <a:gd name="T37" fmla="*/ 1120 h 2828"/>
                <a:gd name="T38" fmla="*/ 315 w 1963"/>
                <a:gd name="T39" fmla="*/ 944 h 2828"/>
                <a:gd name="T40" fmla="*/ 411 w 1963"/>
                <a:gd name="T41" fmla="*/ 800 h 2828"/>
                <a:gd name="T42" fmla="*/ 467 w 1963"/>
                <a:gd name="T43" fmla="*/ 752 h 2828"/>
                <a:gd name="T44" fmla="*/ 587 w 1963"/>
                <a:gd name="T45" fmla="*/ 632 h 2828"/>
                <a:gd name="T46" fmla="*/ 643 w 1963"/>
                <a:gd name="T47" fmla="*/ 600 h 2828"/>
                <a:gd name="T48" fmla="*/ 795 w 1963"/>
                <a:gd name="T49" fmla="*/ 400 h 2828"/>
                <a:gd name="T50" fmla="*/ 955 w 1963"/>
                <a:gd name="T51" fmla="*/ 216 h 2828"/>
                <a:gd name="T52" fmla="*/ 1027 w 1963"/>
                <a:gd name="T53" fmla="*/ 112 h 2828"/>
                <a:gd name="T54" fmla="*/ 1075 w 1963"/>
                <a:gd name="T55" fmla="*/ 88 h 2828"/>
                <a:gd name="T56" fmla="*/ 1195 w 1963"/>
                <a:gd name="T57" fmla="*/ 48 h 2828"/>
                <a:gd name="T58" fmla="*/ 1691 w 1963"/>
                <a:gd name="T59" fmla="*/ 0 h 282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963" h="2828">
                  <a:moveTo>
                    <a:pt x="1963" y="2560"/>
                  </a:moveTo>
                  <a:cubicBezTo>
                    <a:pt x="1906" y="2579"/>
                    <a:pt x="1856" y="2579"/>
                    <a:pt x="1795" y="2584"/>
                  </a:cubicBezTo>
                  <a:cubicBezTo>
                    <a:pt x="1779" y="2632"/>
                    <a:pt x="1796" y="2688"/>
                    <a:pt x="1779" y="2736"/>
                  </a:cubicBezTo>
                  <a:cubicBezTo>
                    <a:pt x="1771" y="2759"/>
                    <a:pt x="1702" y="2778"/>
                    <a:pt x="1683" y="2784"/>
                  </a:cubicBezTo>
                  <a:cubicBezTo>
                    <a:pt x="1667" y="2789"/>
                    <a:pt x="1635" y="2800"/>
                    <a:pt x="1635" y="2800"/>
                  </a:cubicBezTo>
                  <a:cubicBezTo>
                    <a:pt x="1187" y="2796"/>
                    <a:pt x="993" y="2828"/>
                    <a:pt x="651" y="2760"/>
                  </a:cubicBezTo>
                  <a:cubicBezTo>
                    <a:pt x="603" y="2736"/>
                    <a:pt x="548" y="2728"/>
                    <a:pt x="499" y="2704"/>
                  </a:cubicBezTo>
                  <a:cubicBezTo>
                    <a:pt x="440" y="2674"/>
                    <a:pt x="398" y="2634"/>
                    <a:pt x="347" y="2592"/>
                  </a:cubicBezTo>
                  <a:cubicBezTo>
                    <a:pt x="313" y="2563"/>
                    <a:pt x="331" y="2590"/>
                    <a:pt x="299" y="2552"/>
                  </a:cubicBezTo>
                  <a:cubicBezTo>
                    <a:pt x="265" y="2511"/>
                    <a:pt x="227" y="2483"/>
                    <a:pt x="187" y="2448"/>
                  </a:cubicBezTo>
                  <a:cubicBezTo>
                    <a:pt x="170" y="2433"/>
                    <a:pt x="139" y="2400"/>
                    <a:pt x="139" y="2400"/>
                  </a:cubicBezTo>
                  <a:cubicBezTo>
                    <a:pt x="128" y="2368"/>
                    <a:pt x="106" y="2349"/>
                    <a:pt x="91" y="2320"/>
                  </a:cubicBezTo>
                  <a:cubicBezTo>
                    <a:pt x="58" y="2254"/>
                    <a:pt x="113" y="2341"/>
                    <a:pt x="67" y="2272"/>
                  </a:cubicBezTo>
                  <a:cubicBezTo>
                    <a:pt x="59" y="2240"/>
                    <a:pt x="53" y="2219"/>
                    <a:pt x="35" y="2192"/>
                  </a:cubicBezTo>
                  <a:cubicBezTo>
                    <a:pt x="0" y="1948"/>
                    <a:pt x="21" y="1705"/>
                    <a:pt x="91" y="1472"/>
                  </a:cubicBezTo>
                  <a:cubicBezTo>
                    <a:pt x="95" y="1459"/>
                    <a:pt x="101" y="1414"/>
                    <a:pt x="107" y="1400"/>
                  </a:cubicBezTo>
                  <a:cubicBezTo>
                    <a:pt x="120" y="1369"/>
                    <a:pt x="140" y="1342"/>
                    <a:pt x="155" y="1312"/>
                  </a:cubicBezTo>
                  <a:cubicBezTo>
                    <a:pt x="181" y="1260"/>
                    <a:pt x="174" y="1225"/>
                    <a:pt x="211" y="1176"/>
                  </a:cubicBezTo>
                  <a:cubicBezTo>
                    <a:pt x="229" y="1121"/>
                    <a:pt x="204" y="1188"/>
                    <a:pt x="243" y="1120"/>
                  </a:cubicBezTo>
                  <a:cubicBezTo>
                    <a:pt x="273" y="1067"/>
                    <a:pt x="287" y="1000"/>
                    <a:pt x="315" y="944"/>
                  </a:cubicBezTo>
                  <a:cubicBezTo>
                    <a:pt x="341" y="892"/>
                    <a:pt x="379" y="848"/>
                    <a:pt x="411" y="800"/>
                  </a:cubicBezTo>
                  <a:cubicBezTo>
                    <a:pt x="425" y="780"/>
                    <a:pt x="451" y="771"/>
                    <a:pt x="467" y="752"/>
                  </a:cubicBezTo>
                  <a:cubicBezTo>
                    <a:pt x="490" y="725"/>
                    <a:pt x="560" y="646"/>
                    <a:pt x="587" y="632"/>
                  </a:cubicBezTo>
                  <a:cubicBezTo>
                    <a:pt x="628" y="612"/>
                    <a:pt x="609" y="623"/>
                    <a:pt x="643" y="600"/>
                  </a:cubicBezTo>
                  <a:cubicBezTo>
                    <a:pt x="690" y="530"/>
                    <a:pt x="735" y="460"/>
                    <a:pt x="795" y="400"/>
                  </a:cubicBezTo>
                  <a:cubicBezTo>
                    <a:pt x="825" y="310"/>
                    <a:pt x="891" y="280"/>
                    <a:pt x="955" y="216"/>
                  </a:cubicBezTo>
                  <a:cubicBezTo>
                    <a:pt x="986" y="185"/>
                    <a:pt x="1002" y="150"/>
                    <a:pt x="1027" y="112"/>
                  </a:cubicBezTo>
                  <a:cubicBezTo>
                    <a:pt x="1038" y="95"/>
                    <a:pt x="1059" y="96"/>
                    <a:pt x="1075" y="88"/>
                  </a:cubicBezTo>
                  <a:cubicBezTo>
                    <a:pt x="1116" y="67"/>
                    <a:pt x="1150" y="59"/>
                    <a:pt x="1195" y="48"/>
                  </a:cubicBezTo>
                  <a:cubicBezTo>
                    <a:pt x="1358" y="7"/>
                    <a:pt x="1522" y="0"/>
                    <a:pt x="1691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Text Box 89"/>
            <p:cNvSpPr txBox="1">
              <a:spLocks noChangeArrowheads="1"/>
            </p:cNvSpPr>
            <p:nvPr/>
          </p:nvSpPr>
          <p:spPr bwMode="auto">
            <a:xfrm>
              <a:off x="328" y="3702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1" name="Text Box 90"/>
            <p:cNvSpPr txBox="1">
              <a:spLocks noChangeArrowheads="1"/>
            </p:cNvSpPr>
            <p:nvPr/>
          </p:nvSpPr>
          <p:spPr bwMode="auto">
            <a:xfrm>
              <a:off x="1224" y="2462"/>
              <a:ext cx="198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2" name="Text Box 91"/>
            <p:cNvSpPr txBox="1">
              <a:spLocks noChangeArrowheads="1"/>
            </p:cNvSpPr>
            <p:nvPr/>
          </p:nvSpPr>
          <p:spPr bwMode="auto">
            <a:xfrm>
              <a:off x="2017" y="2471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3" name="Text Box 92"/>
            <p:cNvSpPr txBox="1">
              <a:spLocks noChangeArrowheads="1"/>
            </p:cNvSpPr>
            <p:nvPr/>
          </p:nvSpPr>
          <p:spPr bwMode="auto">
            <a:xfrm>
              <a:off x="2616" y="2462"/>
              <a:ext cx="20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4" name="Text Box 93"/>
            <p:cNvSpPr txBox="1">
              <a:spLocks noChangeArrowheads="1"/>
            </p:cNvSpPr>
            <p:nvPr/>
          </p:nvSpPr>
          <p:spPr bwMode="auto">
            <a:xfrm>
              <a:off x="3239" y="2391"/>
              <a:ext cx="19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5" name="Text Box 94"/>
            <p:cNvSpPr txBox="1">
              <a:spLocks noChangeArrowheads="1"/>
            </p:cNvSpPr>
            <p:nvPr/>
          </p:nvSpPr>
          <p:spPr bwMode="auto">
            <a:xfrm>
              <a:off x="3607" y="2359"/>
              <a:ext cx="19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6" name="Text Box 95"/>
            <p:cNvSpPr txBox="1">
              <a:spLocks noChangeArrowheads="1"/>
            </p:cNvSpPr>
            <p:nvPr/>
          </p:nvSpPr>
          <p:spPr bwMode="auto">
            <a:xfrm>
              <a:off x="4104" y="2567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7" name="Text Box 96"/>
            <p:cNvSpPr txBox="1">
              <a:spLocks noChangeArrowheads="1"/>
            </p:cNvSpPr>
            <p:nvPr/>
          </p:nvSpPr>
          <p:spPr bwMode="auto">
            <a:xfrm>
              <a:off x="1009" y="3248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8" name="Text Box 97"/>
            <p:cNvSpPr txBox="1">
              <a:spLocks noChangeArrowheads="1"/>
            </p:cNvSpPr>
            <p:nvPr/>
          </p:nvSpPr>
          <p:spPr bwMode="auto">
            <a:xfrm>
              <a:off x="1519" y="3073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19" name="Text Box 98"/>
            <p:cNvSpPr txBox="1">
              <a:spLocks noChangeArrowheads="1"/>
            </p:cNvSpPr>
            <p:nvPr/>
          </p:nvSpPr>
          <p:spPr bwMode="auto">
            <a:xfrm>
              <a:off x="1880" y="3143"/>
              <a:ext cx="19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20" name="Text Box 99"/>
            <p:cNvSpPr txBox="1">
              <a:spLocks noChangeArrowheads="1"/>
            </p:cNvSpPr>
            <p:nvPr/>
          </p:nvSpPr>
          <p:spPr bwMode="auto">
            <a:xfrm>
              <a:off x="2423" y="3240"/>
              <a:ext cx="19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21" name="Text Box 100"/>
            <p:cNvSpPr txBox="1">
              <a:spLocks noChangeArrowheads="1"/>
            </p:cNvSpPr>
            <p:nvPr/>
          </p:nvSpPr>
          <p:spPr bwMode="auto">
            <a:xfrm>
              <a:off x="3225" y="3200"/>
              <a:ext cx="197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CC2A90-1ED2-4D76-874A-88DCE96D12A5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4579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7871CF-6B0B-402B-98E3-C196310008C0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24580" name="Group 3"/>
          <p:cNvGrpSpPr>
            <a:grpSpLocks/>
          </p:cNvGrpSpPr>
          <p:nvPr/>
        </p:nvGrpSpPr>
        <p:grpSpPr bwMode="auto">
          <a:xfrm>
            <a:off x="1662113" y="1516063"/>
            <a:ext cx="6010275" cy="4122737"/>
            <a:chOff x="213" y="648"/>
            <a:chExt cx="4907" cy="3586"/>
          </a:xfrm>
        </p:grpSpPr>
        <p:grpSp>
          <p:nvGrpSpPr>
            <p:cNvPr id="24583" name="Group 4"/>
            <p:cNvGrpSpPr>
              <a:grpSpLocks/>
            </p:cNvGrpSpPr>
            <p:nvPr/>
          </p:nvGrpSpPr>
          <p:grpSpPr bwMode="auto">
            <a:xfrm>
              <a:off x="2792" y="656"/>
              <a:ext cx="600" cy="474"/>
              <a:chOff x="2224" y="784"/>
              <a:chExt cx="600" cy="595"/>
            </a:xfrm>
          </p:grpSpPr>
          <p:sp>
            <p:nvSpPr>
              <p:cNvPr id="24676" name="Oval 5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7" name="Text Box 6"/>
              <p:cNvSpPr txBox="1">
                <a:spLocks noChangeArrowheads="1"/>
              </p:cNvSpPr>
              <p:nvPr/>
            </p:nvSpPr>
            <p:spPr bwMode="auto">
              <a:xfrm>
                <a:off x="2368" y="793"/>
                <a:ext cx="350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S0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8" name="Text Box 7"/>
              <p:cNvSpPr txBox="1">
                <a:spLocks noChangeArrowheads="1"/>
              </p:cNvSpPr>
              <p:nvPr/>
            </p:nvSpPr>
            <p:spPr bwMode="auto">
              <a:xfrm>
                <a:off x="2359" y="1011"/>
                <a:ext cx="353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84" name="Group 8"/>
            <p:cNvGrpSpPr>
              <a:grpSpLocks/>
            </p:cNvGrpSpPr>
            <p:nvPr/>
          </p:nvGrpSpPr>
          <p:grpSpPr bwMode="auto">
            <a:xfrm>
              <a:off x="1784" y="1216"/>
              <a:ext cx="600" cy="468"/>
              <a:chOff x="2224" y="784"/>
              <a:chExt cx="600" cy="600"/>
            </a:xfrm>
          </p:grpSpPr>
          <p:sp>
            <p:nvSpPr>
              <p:cNvPr id="24673" name="Oval 9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4" name="Text Box 10"/>
              <p:cNvSpPr txBox="1">
                <a:spLocks noChangeArrowheads="1"/>
              </p:cNvSpPr>
              <p:nvPr/>
            </p:nvSpPr>
            <p:spPr bwMode="auto">
              <a:xfrm>
                <a:off x="2369" y="792"/>
                <a:ext cx="350" cy="3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S1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5" name="Text Box 11"/>
              <p:cNvSpPr txBox="1">
                <a:spLocks noChangeArrowheads="1"/>
              </p:cNvSpPr>
              <p:nvPr/>
            </p:nvSpPr>
            <p:spPr bwMode="auto">
              <a:xfrm>
                <a:off x="2360" y="1008"/>
                <a:ext cx="352" cy="3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Z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85" name="Group 12"/>
            <p:cNvGrpSpPr>
              <a:grpSpLocks/>
            </p:cNvGrpSpPr>
            <p:nvPr/>
          </p:nvGrpSpPr>
          <p:grpSpPr bwMode="auto">
            <a:xfrm>
              <a:off x="3776" y="1192"/>
              <a:ext cx="600" cy="485"/>
              <a:chOff x="2224" y="784"/>
              <a:chExt cx="600" cy="565"/>
            </a:xfrm>
          </p:grpSpPr>
          <p:sp>
            <p:nvSpPr>
              <p:cNvPr id="24670" name="Oval 13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1" name="Text Box 14"/>
              <p:cNvSpPr txBox="1">
                <a:spLocks noChangeArrowheads="1"/>
              </p:cNvSpPr>
              <p:nvPr/>
            </p:nvSpPr>
            <p:spPr bwMode="auto">
              <a:xfrm>
                <a:off x="2369" y="791"/>
                <a:ext cx="35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S2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2" name="Text Box 15"/>
              <p:cNvSpPr txBox="1">
                <a:spLocks noChangeArrowheads="1"/>
              </p:cNvSpPr>
              <p:nvPr/>
            </p:nvSpPr>
            <p:spPr bwMode="auto">
              <a:xfrm>
                <a:off x="2360" y="1008"/>
                <a:ext cx="35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86" name="Group 16"/>
            <p:cNvGrpSpPr>
              <a:grpSpLocks/>
            </p:cNvGrpSpPr>
            <p:nvPr/>
          </p:nvGrpSpPr>
          <p:grpSpPr bwMode="auto">
            <a:xfrm>
              <a:off x="1376" y="2056"/>
              <a:ext cx="600" cy="473"/>
              <a:chOff x="2224" y="784"/>
              <a:chExt cx="600" cy="593"/>
            </a:xfrm>
          </p:grpSpPr>
          <p:sp>
            <p:nvSpPr>
              <p:cNvPr id="24667" name="Oval 17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8" name="Text Box 18"/>
              <p:cNvSpPr txBox="1">
                <a:spLocks noChangeArrowheads="1"/>
              </p:cNvSpPr>
              <p:nvPr/>
            </p:nvSpPr>
            <p:spPr bwMode="auto">
              <a:xfrm>
                <a:off x="2367" y="793"/>
                <a:ext cx="352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S3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9" name="Text Box 19"/>
              <p:cNvSpPr txBox="1">
                <a:spLocks noChangeArrowheads="1"/>
              </p:cNvSpPr>
              <p:nvPr/>
            </p:nvSpPr>
            <p:spPr bwMode="auto">
              <a:xfrm>
                <a:off x="2360" y="1010"/>
                <a:ext cx="350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Z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87" name="Group 20"/>
            <p:cNvGrpSpPr>
              <a:grpSpLocks/>
            </p:cNvGrpSpPr>
            <p:nvPr/>
          </p:nvGrpSpPr>
          <p:grpSpPr bwMode="auto">
            <a:xfrm>
              <a:off x="2752" y="2080"/>
              <a:ext cx="600" cy="475"/>
              <a:chOff x="2224" y="784"/>
              <a:chExt cx="600" cy="584"/>
            </a:xfrm>
          </p:grpSpPr>
          <p:sp>
            <p:nvSpPr>
              <p:cNvPr id="24664" name="Oval 21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5" name="Text Box 22"/>
              <p:cNvSpPr txBox="1">
                <a:spLocks noChangeArrowheads="1"/>
              </p:cNvSpPr>
              <p:nvPr/>
            </p:nvSpPr>
            <p:spPr bwMode="auto">
              <a:xfrm>
                <a:off x="2368" y="794"/>
                <a:ext cx="350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S4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6" name="Text Box 23"/>
              <p:cNvSpPr txBox="1">
                <a:spLocks noChangeArrowheads="1"/>
              </p:cNvSpPr>
              <p:nvPr/>
            </p:nvSpPr>
            <p:spPr bwMode="auto">
              <a:xfrm>
                <a:off x="2360" y="1008"/>
                <a:ext cx="349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88" name="Group 24"/>
            <p:cNvGrpSpPr>
              <a:grpSpLocks/>
            </p:cNvGrpSpPr>
            <p:nvPr/>
          </p:nvGrpSpPr>
          <p:grpSpPr bwMode="auto">
            <a:xfrm>
              <a:off x="3872" y="2080"/>
              <a:ext cx="600" cy="483"/>
              <a:chOff x="2224" y="784"/>
              <a:chExt cx="600" cy="572"/>
            </a:xfrm>
          </p:grpSpPr>
          <p:sp>
            <p:nvSpPr>
              <p:cNvPr id="24661" name="Oval 25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2" name="Text Box 26"/>
              <p:cNvSpPr txBox="1">
                <a:spLocks noChangeArrowheads="1"/>
              </p:cNvSpPr>
              <p:nvPr/>
            </p:nvSpPr>
            <p:spPr bwMode="auto">
              <a:xfrm>
                <a:off x="2368" y="790"/>
                <a:ext cx="350" cy="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S5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3" name="Text Box 27"/>
              <p:cNvSpPr txBox="1">
                <a:spLocks noChangeArrowheads="1"/>
              </p:cNvSpPr>
              <p:nvPr/>
            </p:nvSpPr>
            <p:spPr bwMode="auto">
              <a:xfrm>
                <a:off x="2359" y="1009"/>
                <a:ext cx="351" cy="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Z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89" name="Group 28"/>
            <p:cNvGrpSpPr>
              <a:grpSpLocks/>
            </p:cNvGrpSpPr>
            <p:nvPr/>
          </p:nvGrpSpPr>
          <p:grpSpPr bwMode="auto">
            <a:xfrm>
              <a:off x="3464" y="2920"/>
              <a:ext cx="600" cy="479"/>
              <a:chOff x="2224" y="784"/>
              <a:chExt cx="600" cy="579"/>
            </a:xfrm>
          </p:grpSpPr>
          <p:sp>
            <p:nvSpPr>
              <p:cNvPr id="24658" name="Oval 29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9" name="Text Box 30"/>
              <p:cNvSpPr txBox="1">
                <a:spLocks noChangeArrowheads="1"/>
              </p:cNvSpPr>
              <p:nvPr/>
            </p:nvSpPr>
            <p:spPr bwMode="auto">
              <a:xfrm>
                <a:off x="2366" y="790"/>
                <a:ext cx="351" cy="3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S8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0" name="Text Box 31"/>
              <p:cNvSpPr txBox="1">
                <a:spLocks noChangeArrowheads="1"/>
              </p:cNvSpPr>
              <p:nvPr/>
            </p:nvSpPr>
            <p:spPr bwMode="auto">
              <a:xfrm>
                <a:off x="2358" y="1009"/>
                <a:ext cx="350" cy="3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90" name="Group 32"/>
            <p:cNvGrpSpPr>
              <a:grpSpLocks/>
            </p:cNvGrpSpPr>
            <p:nvPr/>
          </p:nvGrpSpPr>
          <p:grpSpPr bwMode="auto">
            <a:xfrm>
              <a:off x="2088" y="2896"/>
              <a:ext cx="600" cy="467"/>
              <a:chOff x="2224" y="784"/>
              <a:chExt cx="600" cy="600"/>
            </a:xfrm>
          </p:grpSpPr>
          <p:sp>
            <p:nvSpPr>
              <p:cNvPr id="24655" name="Oval 33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6" name="Text Box 34"/>
              <p:cNvSpPr txBox="1">
                <a:spLocks noChangeArrowheads="1"/>
              </p:cNvSpPr>
              <p:nvPr/>
            </p:nvSpPr>
            <p:spPr bwMode="auto">
              <a:xfrm>
                <a:off x="2370" y="793"/>
                <a:ext cx="350" cy="3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S7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7" name="Text Box 35"/>
              <p:cNvSpPr txBox="1">
                <a:spLocks noChangeArrowheads="1"/>
              </p:cNvSpPr>
              <p:nvPr/>
            </p:nvSpPr>
            <p:spPr bwMode="auto">
              <a:xfrm>
                <a:off x="2361" y="1007"/>
                <a:ext cx="349" cy="3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Z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91" name="Group 36"/>
            <p:cNvGrpSpPr>
              <a:grpSpLocks/>
            </p:cNvGrpSpPr>
            <p:nvPr/>
          </p:nvGrpSpPr>
          <p:grpSpPr bwMode="auto">
            <a:xfrm>
              <a:off x="896" y="2864"/>
              <a:ext cx="600" cy="472"/>
              <a:chOff x="2224" y="784"/>
              <a:chExt cx="600" cy="592"/>
            </a:xfrm>
          </p:grpSpPr>
          <p:sp>
            <p:nvSpPr>
              <p:cNvPr id="24652" name="Oval 37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3" name="Text Box 38"/>
              <p:cNvSpPr txBox="1">
                <a:spLocks noChangeArrowheads="1"/>
              </p:cNvSpPr>
              <p:nvPr/>
            </p:nvSpPr>
            <p:spPr bwMode="auto">
              <a:xfrm>
                <a:off x="2369" y="793"/>
                <a:ext cx="350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S6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4" name="Text Box 39"/>
              <p:cNvSpPr txBox="1">
                <a:spLocks noChangeArrowheads="1"/>
              </p:cNvSpPr>
              <p:nvPr/>
            </p:nvSpPr>
            <p:spPr bwMode="auto">
              <a:xfrm>
                <a:off x="2360" y="1010"/>
                <a:ext cx="350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92" name="Group 40"/>
            <p:cNvGrpSpPr>
              <a:grpSpLocks/>
            </p:cNvGrpSpPr>
            <p:nvPr/>
          </p:nvGrpSpPr>
          <p:grpSpPr bwMode="auto">
            <a:xfrm>
              <a:off x="904" y="3544"/>
              <a:ext cx="600" cy="465"/>
              <a:chOff x="2224" y="784"/>
              <a:chExt cx="600" cy="608"/>
            </a:xfrm>
          </p:grpSpPr>
          <p:sp>
            <p:nvSpPr>
              <p:cNvPr id="24649" name="Oval 41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0" name="Text Box 42"/>
              <p:cNvSpPr txBox="1">
                <a:spLocks noChangeArrowheads="1"/>
              </p:cNvSpPr>
              <p:nvPr/>
            </p:nvSpPr>
            <p:spPr bwMode="auto">
              <a:xfrm>
                <a:off x="2368" y="791"/>
                <a:ext cx="351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S9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1" name="Text Box 43"/>
              <p:cNvSpPr txBox="1">
                <a:spLocks noChangeArrowheads="1"/>
              </p:cNvSpPr>
              <p:nvPr/>
            </p:nvSpPr>
            <p:spPr bwMode="auto">
              <a:xfrm>
                <a:off x="2359" y="1009"/>
                <a:ext cx="351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0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93" name="Group 44"/>
            <p:cNvGrpSpPr>
              <a:grpSpLocks/>
            </p:cNvGrpSpPr>
            <p:nvPr/>
          </p:nvGrpSpPr>
          <p:grpSpPr bwMode="auto">
            <a:xfrm>
              <a:off x="2096" y="3520"/>
              <a:ext cx="720" cy="465"/>
              <a:chOff x="2224" y="784"/>
              <a:chExt cx="600" cy="608"/>
            </a:xfrm>
          </p:grpSpPr>
          <p:sp>
            <p:nvSpPr>
              <p:cNvPr id="24646" name="Oval 45"/>
              <p:cNvSpPr>
                <a:spLocks noChangeArrowheads="1"/>
              </p:cNvSpPr>
              <p:nvPr/>
            </p:nvSpPr>
            <p:spPr bwMode="auto">
              <a:xfrm>
                <a:off x="2224" y="784"/>
                <a:ext cx="600" cy="50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47" name="Text Box 46"/>
              <p:cNvSpPr txBox="1">
                <a:spLocks noChangeArrowheads="1"/>
              </p:cNvSpPr>
              <p:nvPr/>
            </p:nvSpPr>
            <p:spPr bwMode="auto">
              <a:xfrm>
                <a:off x="2368" y="792"/>
                <a:ext cx="351" cy="3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S10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48" name="Text Box 47"/>
              <p:cNvSpPr txBox="1">
                <a:spLocks noChangeArrowheads="1"/>
              </p:cNvSpPr>
              <p:nvPr/>
            </p:nvSpPr>
            <p:spPr bwMode="auto">
              <a:xfrm>
                <a:off x="2362" y="1010"/>
                <a:ext cx="348" cy="3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u="none">
                    <a:latin typeface="Times New Roman" panose="02020603050405020304" pitchFamily="18" charset="0"/>
                  </a:rPr>
                  <a:t>Z</a:t>
                </a:r>
                <a:endParaRPr lang="en-US" altLang="en-US" sz="1600" b="0" u="none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594" name="Line 48"/>
            <p:cNvSpPr>
              <a:spLocks noChangeShapeType="1"/>
            </p:cNvSpPr>
            <p:nvPr/>
          </p:nvSpPr>
          <p:spPr bwMode="auto">
            <a:xfrm flipH="1">
              <a:off x="2288" y="968"/>
              <a:ext cx="56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Line 49"/>
            <p:cNvSpPr>
              <a:spLocks noChangeShapeType="1"/>
            </p:cNvSpPr>
            <p:nvPr/>
          </p:nvSpPr>
          <p:spPr bwMode="auto">
            <a:xfrm flipH="1">
              <a:off x="1696" y="1600"/>
              <a:ext cx="288" cy="4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Text Box 50"/>
            <p:cNvSpPr txBox="1">
              <a:spLocks noChangeArrowheads="1"/>
            </p:cNvSpPr>
            <p:nvPr/>
          </p:nvSpPr>
          <p:spPr bwMode="auto">
            <a:xfrm>
              <a:off x="2624" y="983"/>
              <a:ext cx="345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597" name="Text Box 51"/>
            <p:cNvSpPr txBox="1">
              <a:spLocks noChangeArrowheads="1"/>
            </p:cNvSpPr>
            <p:nvPr/>
          </p:nvSpPr>
          <p:spPr bwMode="auto">
            <a:xfrm>
              <a:off x="1416" y="1262"/>
              <a:ext cx="46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598" name="Text Box 52"/>
            <p:cNvSpPr txBox="1">
              <a:spLocks noChangeArrowheads="1"/>
            </p:cNvSpPr>
            <p:nvPr/>
          </p:nvSpPr>
          <p:spPr bwMode="auto">
            <a:xfrm>
              <a:off x="3512" y="1272"/>
              <a:ext cx="31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599" name="Line 53"/>
            <p:cNvSpPr>
              <a:spLocks noChangeShapeType="1"/>
            </p:cNvSpPr>
            <p:nvPr/>
          </p:nvSpPr>
          <p:spPr bwMode="auto">
            <a:xfrm>
              <a:off x="3360" y="976"/>
              <a:ext cx="61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Text Box 54"/>
            <p:cNvSpPr txBox="1">
              <a:spLocks noChangeArrowheads="1"/>
            </p:cNvSpPr>
            <p:nvPr/>
          </p:nvSpPr>
          <p:spPr bwMode="auto">
            <a:xfrm>
              <a:off x="3569" y="823"/>
              <a:ext cx="19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01" name="Text Box 55"/>
            <p:cNvSpPr txBox="1">
              <a:spLocks noChangeArrowheads="1"/>
            </p:cNvSpPr>
            <p:nvPr/>
          </p:nvSpPr>
          <p:spPr bwMode="auto">
            <a:xfrm>
              <a:off x="1649" y="1540"/>
              <a:ext cx="430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02" name="Line 56"/>
            <p:cNvSpPr>
              <a:spLocks noChangeShapeType="1"/>
            </p:cNvSpPr>
            <p:nvPr/>
          </p:nvSpPr>
          <p:spPr bwMode="auto">
            <a:xfrm>
              <a:off x="2296" y="1552"/>
              <a:ext cx="656" cy="5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Text Box 57"/>
            <p:cNvSpPr txBox="1">
              <a:spLocks noChangeArrowheads="1"/>
            </p:cNvSpPr>
            <p:nvPr/>
          </p:nvSpPr>
          <p:spPr bwMode="auto">
            <a:xfrm>
              <a:off x="1009" y="2088"/>
              <a:ext cx="4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04" name="Text Box 58"/>
            <p:cNvSpPr txBox="1">
              <a:spLocks noChangeArrowheads="1"/>
            </p:cNvSpPr>
            <p:nvPr/>
          </p:nvSpPr>
          <p:spPr bwMode="auto">
            <a:xfrm>
              <a:off x="2552" y="1551"/>
              <a:ext cx="19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05" name="Text Box 59"/>
            <p:cNvSpPr txBox="1">
              <a:spLocks noChangeArrowheads="1"/>
            </p:cNvSpPr>
            <p:nvPr/>
          </p:nvSpPr>
          <p:spPr bwMode="auto">
            <a:xfrm>
              <a:off x="2528" y="2160"/>
              <a:ext cx="310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06" name="Text Box 60"/>
            <p:cNvSpPr txBox="1">
              <a:spLocks noChangeArrowheads="1"/>
            </p:cNvSpPr>
            <p:nvPr/>
          </p:nvSpPr>
          <p:spPr bwMode="auto">
            <a:xfrm>
              <a:off x="3598" y="2160"/>
              <a:ext cx="313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07" name="Line 61"/>
            <p:cNvSpPr>
              <a:spLocks noChangeShapeType="1"/>
            </p:cNvSpPr>
            <p:nvPr/>
          </p:nvSpPr>
          <p:spPr bwMode="auto">
            <a:xfrm flipH="1">
              <a:off x="3288" y="1584"/>
              <a:ext cx="640" cy="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Text Box 62"/>
            <p:cNvSpPr txBox="1">
              <a:spLocks noChangeArrowheads="1"/>
            </p:cNvSpPr>
            <p:nvPr/>
          </p:nvSpPr>
          <p:spPr bwMode="auto">
            <a:xfrm>
              <a:off x="3471" y="1515"/>
              <a:ext cx="35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09" name="Text Box 63"/>
            <p:cNvSpPr txBox="1">
              <a:spLocks noChangeArrowheads="1"/>
            </p:cNvSpPr>
            <p:nvPr/>
          </p:nvSpPr>
          <p:spPr bwMode="auto">
            <a:xfrm>
              <a:off x="4153" y="1656"/>
              <a:ext cx="19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10" name="Line 64"/>
            <p:cNvSpPr>
              <a:spLocks noChangeShapeType="1"/>
            </p:cNvSpPr>
            <p:nvPr/>
          </p:nvSpPr>
          <p:spPr bwMode="auto">
            <a:xfrm>
              <a:off x="4112" y="1624"/>
              <a:ext cx="32" cy="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Line 65"/>
            <p:cNvSpPr>
              <a:spLocks noChangeShapeType="1"/>
            </p:cNvSpPr>
            <p:nvPr/>
          </p:nvSpPr>
          <p:spPr bwMode="auto">
            <a:xfrm flipH="1">
              <a:off x="1240" y="2448"/>
              <a:ext cx="288" cy="4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Text Box 66"/>
            <p:cNvSpPr txBox="1">
              <a:spLocks noChangeArrowheads="1"/>
            </p:cNvSpPr>
            <p:nvPr/>
          </p:nvSpPr>
          <p:spPr bwMode="auto">
            <a:xfrm>
              <a:off x="536" y="2911"/>
              <a:ext cx="462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13" name="Line 67"/>
            <p:cNvSpPr>
              <a:spLocks noChangeShapeType="1"/>
            </p:cNvSpPr>
            <p:nvPr/>
          </p:nvSpPr>
          <p:spPr bwMode="auto">
            <a:xfrm>
              <a:off x="1832" y="2424"/>
              <a:ext cx="504" cy="4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Line 68"/>
            <p:cNvSpPr>
              <a:spLocks noChangeShapeType="1"/>
            </p:cNvSpPr>
            <p:nvPr/>
          </p:nvSpPr>
          <p:spPr bwMode="auto">
            <a:xfrm flipH="1">
              <a:off x="2480" y="2496"/>
              <a:ext cx="536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5" name="Line 69"/>
            <p:cNvSpPr>
              <a:spLocks noChangeShapeType="1"/>
            </p:cNvSpPr>
            <p:nvPr/>
          </p:nvSpPr>
          <p:spPr bwMode="auto">
            <a:xfrm>
              <a:off x="3152" y="2488"/>
              <a:ext cx="464" cy="4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Line 70"/>
            <p:cNvSpPr>
              <a:spLocks noChangeShapeType="1"/>
            </p:cNvSpPr>
            <p:nvPr/>
          </p:nvSpPr>
          <p:spPr bwMode="auto">
            <a:xfrm flipH="1">
              <a:off x="2632" y="2472"/>
              <a:ext cx="139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Line 71"/>
            <p:cNvSpPr>
              <a:spLocks noChangeShapeType="1"/>
            </p:cNvSpPr>
            <p:nvPr/>
          </p:nvSpPr>
          <p:spPr bwMode="auto">
            <a:xfrm flipH="1">
              <a:off x="3848" y="2504"/>
              <a:ext cx="424" cy="4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Text Box 72"/>
            <p:cNvSpPr txBox="1">
              <a:spLocks noChangeArrowheads="1"/>
            </p:cNvSpPr>
            <p:nvPr/>
          </p:nvSpPr>
          <p:spPr bwMode="auto">
            <a:xfrm>
              <a:off x="1736" y="2966"/>
              <a:ext cx="4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19" name="Text Box 73"/>
            <p:cNvSpPr txBox="1">
              <a:spLocks noChangeArrowheads="1"/>
            </p:cNvSpPr>
            <p:nvPr/>
          </p:nvSpPr>
          <p:spPr bwMode="auto">
            <a:xfrm>
              <a:off x="3232" y="2983"/>
              <a:ext cx="294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20" name="Line 74"/>
            <p:cNvSpPr>
              <a:spLocks noChangeShapeType="1"/>
            </p:cNvSpPr>
            <p:nvPr/>
          </p:nvSpPr>
          <p:spPr bwMode="auto">
            <a:xfrm flipH="1">
              <a:off x="1200" y="3264"/>
              <a:ext cx="16" cy="3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Line 75"/>
            <p:cNvSpPr>
              <a:spLocks noChangeShapeType="1"/>
            </p:cNvSpPr>
            <p:nvPr/>
          </p:nvSpPr>
          <p:spPr bwMode="auto">
            <a:xfrm>
              <a:off x="1376" y="3216"/>
              <a:ext cx="792" cy="3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Line 76"/>
            <p:cNvSpPr>
              <a:spLocks noChangeShapeType="1"/>
            </p:cNvSpPr>
            <p:nvPr/>
          </p:nvSpPr>
          <p:spPr bwMode="auto">
            <a:xfrm flipH="1">
              <a:off x="1392" y="3240"/>
              <a:ext cx="816" cy="3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Line 77"/>
            <p:cNvSpPr>
              <a:spLocks noChangeShapeType="1"/>
            </p:cNvSpPr>
            <p:nvPr/>
          </p:nvSpPr>
          <p:spPr bwMode="auto">
            <a:xfrm>
              <a:off x="2400" y="3280"/>
              <a:ext cx="40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Line 78"/>
            <p:cNvSpPr>
              <a:spLocks noChangeShapeType="1"/>
            </p:cNvSpPr>
            <p:nvPr/>
          </p:nvSpPr>
          <p:spPr bwMode="auto">
            <a:xfrm flipH="1">
              <a:off x="2752" y="3328"/>
              <a:ext cx="888" cy="2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Text Box 79"/>
            <p:cNvSpPr txBox="1">
              <a:spLocks noChangeArrowheads="1"/>
            </p:cNvSpPr>
            <p:nvPr/>
          </p:nvSpPr>
          <p:spPr bwMode="auto">
            <a:xfrm>
              <a:off x="528" y="3577"/>
              <a:ext cx="4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26" name="Text Box 80"/>
            <p:cNvSpPr txBox="1">
              <a:spLocks noChangeArrowheads="1"/>
            </p:cNvSpPr>
            <p:nvPr/>
          </p:nvSpPr>
          <p:spPr bwMode="auto">
            <a:xfrm>
              <a:off x="1720" y="3608"/>
              <a:ext cx="460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NC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27" name="Text Box 81"/>
            <p:cNvSpPr txBox="1">
              <a:spLocks noChangeArrowheads="1"/>
            </p:cNvSpPr>
            <p:nvPr/>
          </p:nvSpPr>
          <p:spPr bwMode="auto">
            <a:xfrm>
              <a:off x="2310" y="648"/>
              <a:ext cx="464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Start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28" name="Text Box 82"/>
            <p:cNvSpPr txBox="1">
              <a:spLocks noChangeArrowheads="1"/>
            </p:cNvSpPr>
            <p:nvPr/>
          </p:nvSpPr>
          <p:spPr bwMode="auto">
            <a:xfrm>
              <a:off x="328" y="3218"/>
              <a:ext cx="374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29" name="Text Box 83"/>
            <p:cNvSpPr txBox="1">
              <a:spLocks noChangeArrowheads="1"/>
            </p:cNvSpPr>
            <p:nvPr/>
          </p:nvSpPr>
          <p:spPr bwMode="auto">
            <a:xfrm>
              <a:off x="4760" y="3486"/>
              <a:ext cx="198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30" name="Freeform 84"/>
            <p:cNvSpPr>
              <a:spLocks/>
            </p:cNvSpPr>
            <p:nvPr/>
          </p:nvSpPr>
          <p:spPr bwMode="auto">
            <a:xfrm>
              <a:off x="2784" y="1496"/>
              <a:ext cx="1859" cy="2328"/>
            </a:xfrm>
            <a:custGeom>
              <a:avLst/>
              <a:gdLst>
                <a:gd name="T0" fmla="*/ 0 w 1859"/>
                <a:gd name="T1" fmla="*/ 2328 h 2328"/>
                <a:gd name="T2" fmla="*/ 176 w 1859"/>
                <a:gd name="T3" fmla="*/ 2320 h 2328"/>
                <a:gd name="T4" fmla="*/ 408 w 1859"/>
                <a:gd name="T5" fmla="*/ 2280 h 2328"/>
                <a:gd name="T6" fmla="*/ 688 w 1859"/>
                <a:gd name="T7" fmla="*/ 2216 h 2328"/>
                <a:gd name="T8" fmla="*/ 728 w 1859"/>
                <a:gd name="T9" fmla="*/ 2168 h 2328"/>
                <a:gd name="T10" fmla="*/ 904 w 1859"/>
                <a:gd name="T11" fmla="*/ 2128 h 2328"/>
                <a:gd name="T12" fmla="*/ 1168 w 1859"/>
                <a:gd name="T13" fmla="*/ 2000 h 2328"/>
                <a:gd name="T14" fmla="*/ 1280 w 1859"/>
                <a:gd name="T15" fmla="*/ 1936 h 2328"/>
                <a:gd name="T16" fmla="*/ 1392 w 1859"/>
                <a:gd name="T17" fmla="*/ 1872 h 2328"/>
                <a:gd name="T18" fmla="*/ 1448 w 1859"/>
                <a:gd name="T19" fmla="*/ 1832 h 2328"/>
                <a:gd name="T20" fmla="*/ 1544 w 1859"/>
                <a:gd name="T21" fmla="*/ 1672 h 2328"/>
                <a:gd name="T22" fmla="*/ 1664 w 1859"/>
                <a:gd name="T23" fmla="*/ 1464 h 2328"/>
                <a:gd name="T24" fmla="*/ 1696 w 1859"/>
                <a:gd name="T25" fmla="*/ 1296 h 2328"/>
                <a:gd name="T26" fmla="*/ 1720 w 1859"/>
                <a:gd name="T27" fmla="*/ 1168 h 2328"/>
                <a:gd name="T28" fmla="*/ 1808 w 1859"/>
                <a:gd name="T29" fmla="*/ 1024 h 2328"/>
                <a:gd name="T30" fmla="*/ 1840 w 1859"/>
                <a:gd name="T31" fmla="*/ 920 h 2328"/>
                <a:gd name="T32" fmla="*/ 1848 w 1859"/>
                <a:gd name="T33" fmla="*/ 568 h 2328"/>
                <a:gd name="T34" fmla="*/ 1816 w 1859"/>
                <a:gd name="T35" fmla="*/ 408 h 2328"/>
                <a:gd name="T36" fmla="*/ 1776 w 1859"/>
                <a:gd name="T37" fmla="*/ 232 h 2328"/>
                <a:gd name="T38" fmla="*/ 1560 w 1859"/>
                <a:gd name="T39" fmla="*/ 0 h 232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859" h="2328">
                  <a:moveTo>
                    <a:pt x="0" y="2328"/>
                  </a:moveTo>
                  <a:cubicBezTo>
                    <a:pt x="59" y="2325"/>
                    <a:pt x="117" y="2324"/>
                    <a:pt x="176" y="2320"/>
                  </a:cubicBezTo>
                  <a:cubicBezTo>
                    <a:pt x="253" y="2315"/>
                    <a:pt x="331" y="2289"/>
                    <a:pt x="408" y="2280"/>
                  </a:cubicBezTo>
                  <a:cubicBezTo>
                    <a:pt x="501" y="2257"/>
                    <a:pt x="596" y="2247"/>
                    <a:pt x="688" y="2216"/>
                  </a:cubicBezTo>
                  <a:cubicBezTo>
                    <a:pt x="696" y="2204"/>
                    <a:pt x="714" y="2173"/>
                    <a:pt x="728" y="2168"/>
                  </a:cubicBezTo>
                  <a:cubicBezTo>
                    <a:pt x="781" y="2148"/>
                    <a:pt x="849" y="2144"/>
                    <a:pt x="904" y="2128"/>
                  </a:cubicBezTo>
                  <a:cubicBezTo>
                    <a:pt x="999" y="2101"/>
                    <a:pt x="1075" y="2031"/>
                    <a:pt x="1168" y="2000"/>
                  </a:cubicBezTo>
                  <a:cubicBezTo>
                    <a:pt x="1200" y="1968"/>
                    <a:pt x="1238" y="1950"/>
                    <a:pt x="1280" y="1936"/>
                  </a:cubicBezTo>
                  <a:cubicBezTo>
                    <a:pt x="1313" y="1911"/>
                    <a:pt x="1353" y="1885"/>
                    <a:pt x="1392" y="1872"/>
                  </a:cubicBezTo>
                  <a:cubicBezTo>
                    <a:pt x="1410" y="1858"/>
                    <a:pt x="1433" y="1849"/>
                    <a:pt x="1448" y="1832"/>
                  </a:cubicBezTo>
                  <a:cubicBezTo>
                    <a:pt x="1489" y="1785"/>
                    <a:pt x="1511" y="1724"/>
                    <a:pt x="1544" y="1672"/>
                  </a:cubicBezTo>
                  <a:cubicBezTo>
                    <a:pt x="1586" y="1604"/>
                    <a:pt x="1628" y="1535"/>
                    <a:pt x="1664" y="1464"/>
                  </a:cubicBezTo>
                  <a:cubicBezTo>
                    <a:pt x="1675" y="1408"/>
                    <a:pt x="1687" y="1353"/>
                    <a:pt x="1696" y="1296"/>
                  </a:cubicBezTo>
                  <a:cubicBezTo>
                    <a:pt x="1703" y="1254"/>
                    <a:pt x="1703" y="1208"/>
                    <a:pt x="1720" y="1168"/>
                  </a:cubicBezTo>
                  <a:cubicBezTo>
                    <a:pt x="1743" y="1115"/>
                    <a:pt x="1785" y="1075"/>
                    <a:pt x="1808" y="1024"/>
                  </a:cubicBezTo>
                  <a:cubicBezTo>
                    <a:pt x="1823" y="991"/>
                    <a:pt x="1829" y="954"/>
                    <a:pt x="1840" y="920"/>
                  </a:cubicBezTo>
                  <a:cubicBezTo>
                    <a:pt x="1855" y="767"/>
                    <a:pt x="1859" y="786"/>
                    <a:pt x="1848" y="568"/>
                  </a:cubicBezTo>
                  <a:cubicBezTo>
                    <a:pt x="1845" y="512"/>
                    <a:pt x="1825" y="463"/>
                    <a:pt x="1816" y="408"/>
                  </a:cubicBezTo>
                  <a:cubicBezTo>
                    <a:pt x="1807" y="353"/>
                    <a:pt x="1799" y="283"/>
                    <a:pt x="1776" y="232"/>
                  </a:cubicBezTo>
                  <a:cubicBezTo>
                    <a:pt x="1739" y="151"/>
                    <a:pt x="1624" y="64"/>
                    <a:pt x="156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Freeform 85"/>
            <p:cNvSpPr>
              <a:spLocks/>
            </p:cNvSpPr>
            <p:nvPr/>
          </p:nvSpPr>
          <p:spPr bwMode="auto">
            <a:xfrm>
              <a:off x="1432" y="1372"/>
              <a:ext cx="3688" cy="2637"/>
            </a:xfrm>
            <a:custGeom>
              <a:avLst/>
              <a:gdLst>
                <a:gd name="T0" fmla="*/ 0 w 3688"/>
                <a:gd name="T1" fmla="*/ 2508 h 2637"/>
                <a:gd name="T2" fmla="*/ 744 w 3688"/>
                <a:gd name="T3" fmla="*/ 2532 h 2637"/>
                <a:gd name="T4" fmla="*/ 992 w 3688"/>
                <a:gd name="T5" fmla="*/ 2572 h 2637"/>
                <a:gd name="T6" fmla="*/ 1104 w 3688"/>
                <a:gd name="T7" fmla="*/ 2604 h 2637"/>
                <a:gd name="T8" fmla="*/ 1248 w 3688"/>
                <a:gd name="T9" fmla="*/ 2620 h 2637"/>
                <a:gd name="T10" fmla="*/ 2416 w 3688"/>
                <a:gd name="T11" fmla="*/ 2588 h 2637"/>
                <a:gd name="T12" fmla="*/ 2624 w 3688"/>
                <a:gd name="T13" fmla="*/ 2548 h 2637"/>
                <a:gd name="T14" fmla="*/ 2680 w 3688"/>
                <a:gd name="T15" fmla="*/ 2532 h 2637"/>
                <a:gd name="T16" fmla="*/ 2728 w 3688"/>
                <a:gd name="T17" fmla="*/ 2516 h 2637"/>
                <a:gd name="T18" fmla="*/ 2888 w 3688"/>
                <a:gd name="T19" fmla="*/ 2444 h 2637"/>
                <a:gd name="T20" fmla="*/ 3064 w 3688"/>
                <a:gd name="T21" fmla="*/ 2356 h 2637"/>
                <a:gd name="T22" fmla="*/ 3168 w 3688"/>
                <a:gd name="T23" fmla="*/ 2316 h 2637"/>
                <a:gd name="T24" fmla="*/ 3360 w 3688"/>
                <a:gd name="T25" fmla="*/ 2132 h 2637"/>
                <a:gd name="T26" fmla="*/ 3392 w 3688"/>
                <a:gd name="T27" fmla="*/ 2084 h 2637"/>
                <a:gd name="T28" fmla="*/ 3424 w 3688"/>
                <a:gd name="T29" fmla="*/ 2044 h 2637"/>
                <a:gd name="T30" fmla="*/ 3496 w 3688"/>
                <a:gd name="T31" fmla="*/ 1964 h 2637"/>
                <a:gd name="T32" fmla="*/ 3584 w 3688"/>
                <a:gd name="T33" fmla="*/ 1836 h 2637"/>
                <a:gd name="T34" fmla="*/ 3640 w 3688"/>
                <a:gd name="T35" fmla="*/ 1676 h 2637"/>
                <a:gd name="T36" fmla="*/ 3664 w 3688"/>
                <a:gd name="T37" fmla="*/ 1556 h 2637"/>
                <a:gd name="T38" fmla="*/ 3688 w 3688"/>
                <a:gd name="T39" fmla="*/ 1300 h 2637"/>
                <a:gd name="T40" fmla="*/ 3680 w 3688"/>
                <a:gd name="T41" fmla="*/ 692 h 2637"/>
                <a:gd name="T42" fmla="*/ 3656 w 3688"/>
                <a:gd name="T43" fmla="*/ 580 h 2637"/>
                <a:gd name="T44" fmla="*/ 3608 w 3688"/>
                <a:gd name="T45" fmla="*/ 484 h 2637"/>
                <a:gd name="T46" fmla="*/ 3504 w 3688"/>
                <a:gd name="T47" fmla="*/ 324 h 2637"/>
                <a:gd name="T48" fmla="*/ 3472 w 3688"/>
                <a:gd name="T49" fmla="*/ 276 h 2637"/>
                <a:gd name="T50" fmla="*/ 3216 w 3688"/>
                <a:gd name="T51" fmla="*/ 132 h 2637"/>
                <a:gd name="T52" fmla="*/ 3088 w 3688"/>
                <a:gd name="T53" fmla="*/ 52 h 2637"/>
                <a:gd name="T54" fmla="*/ 2944 w 3688"/>
                <a:gd name="T55" fmla="*/ 12 h 263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688" h="2637">
                  <a:moveTo>
                    <a:pt x="0" y="2508"/>
                  </a:moveTo>
                  <a:cubicBezTo>
                    <a:pt x="241" y="2538"/>
                    <a:pt x="501" y="2527"/>
                    <a:pt x="744" y="2532"/>
                  </a:cubicBezTo>
                  <a:cubicBezTo>
                    <a:pt x="826" y="2548"/>
                    <a:pt x="909" y="2560"/>
                    <a:pt x="992" y="2572"/>
                  </a:cubicBezTo>
                  <a:cubicBezTo>
                    <a:pt x="1031" y="2578"/>
                    <a:pt x="1067" y="2592"/>
                    <a:pt x="1104" y="2604"/>
                  </a:cubicBezTo>
                  <a:cubicBezTo>
                    <a:pt x="1150" y="2619"/>
                    <a:pt x="1200" y="2614"/>
                    <a:pt x="1248" y="2620"/>
                  </a:cubicBezTo>
                  <a:cubicBezTo>
                    <a:pt x="1689" y="2616"/>
                    <a:pt x="2021" y="2637"/>
                    <a:pt x="2416" y="2588"/>
                  </a:cubicBezTo>
                  <a:cubicBezTo>
                    <a:pt x="2474" y="2569"/>
                    <a:pt x="2562" y="2556"/>
                    <a:pt x="2624" y="2548"/>
                  </a:cubicBezTo>
                  <a:cubicBezTo>
                    <a:pt x="2705" y="2521"/>
                    <a:pt x="2580" y="2562"/>
                    <a:pt x="2680" y="2532"/>
                  </a:cubicBezTo>
                  <a:cubicBezTo>
                    <a:pt x="2696" y="2527"/>
                    <a:pt x="2728" y="2516"/>
                    <a:pt x="2728" y="2516"/>
                  </a:cubicBezTo>
                  <a:cubicBezTo>
                    <a:pt x="2775" y="2481"/>
                    <a:pt x="2831" y="2458"/>
                    <a:pt x="2888" y="2444"/>
                  </a:cubicBezTo>
                  <a:cubicBezTo>
                    <a:pt x="2936" y="2412"/>
                    <a:pt x="3010" y="2374"/>
                    <a:pt x="3064" y="2356"/>
                  </a:cubicBezTo>
                  <a:cubicBezTo>
                    <a:pt x="3100" y="2344"/>
                    <a:pt x="3135" y="2335"/>
                    <a:pt x="3168" y="2316"/>
                  </a:cubicBezTo>
                  <a:cubicBezTo>
                    <a:pt x="3246" y="2272"/>
                    <a:pt x="3298" y="2194"/>
                    <a:pt x="3360" y="2132"/>
                  </a:cubicBezTo>
                  <a:cubicBezTo>
                    <a:pt x="3378" y="2059"/>
                    <a:pt x="3352" y="2134"/>
                    <a:pt x="3392" y="2084"/>
                  </a:cubicBezTo>
                  <a:cubicBezTo>
                    <a:pt x="3436" y="2029"/>
                    <a:pt x="3355" y="2090"/>
                    <a:pt x="3424" y="2044"/>
                  </a:cubicBezTo>
                  <a:cubicBezTo>
                    <a:pt x="3444" y="2014"/>
                    <a:pt x="3496" y="1964"/>
                    <a:pt x="3496" y="1964"/>
                  </a:cubicBezTo>
                  <a:cubicBezTo>
                    <a:pt x="3511" y="1919"/>
                    <a:pt x="3550" y="1870"/>
                    <a:pt x="3584" y="1836"/>
                  </a:cubicBezTo>
                  <a:cubicBezTo>
                    <a:pt x="3602" y="1783"/>
                    <a:pt x="3619" y="1728"/>
                    <a:pt x="3640" y="1676"/>
                  </a:cubicBezTo>
                  <a:cubicBezTo>
                    <a:pt x="3647" y="1636"/>
                    <a:pt x="3654" y="1596"/>
                    <a:pt x="3664" y="1556"/>
                  </a:cubicBezTo>
                  <a:cubicBezTo>
                    <a:pt x="3673" y="1471"/>
                    <a:pt x="3681" y="1386"/>
                    <a:pt x="3688" y="1300"/>
                  </a:cubicBezTo>
                  <a:cubicBezTo>
                    <a:pt x="3685" y="1097"/>
                    <a:pt x="3685" y="895"/>
                    <a:pt x="3680" y="692"/>
                  </a:cubicBezTo>
                  <a:cubicBezTo>
                    <a:pt x="3679" y="663"/>
                    <a:pt x="3666" y="607"/>
                    <a:pt x="3656" y="580"/>
                  </a:cubicBezTo>
                  <a:cubicBezTo>
                    <a:pt x="3643" y="547"/>
                    <a:pt x="3617" y="519"/>
                    <a:pt x="3608" y="484"/>
                  </a:cubicBezTo>
                  <a:cubicBezTo>
                    <a:pt x="3591" y="418"/>
                    <a:pt x="3544" y="376"/>
                    <a:pt x="3504" y="324"/>
                  </a:cubicBezTo>
                  <a:cubicBezTo>
                    <a:pt x="3492" y="309"/>
                    <a:pt x="3487" y="288"/>
                    <a:pt x="3472" y="276"/>
                  </a:cubicBezTo>
                  <a:cubicBezTo>
                    <a:pt x="3392" y="216"/>
                    <a:pt x="3305" y="176"/>
                    <a:pt x="3216" y="132"/>
                  </a:cubicBezTo>
                  <a:cubicBezTo>
                    <a:pt x="3172" y="110"/>
                    <a:pt x="3133" y="67"/>
                    <a:pt x="3088" y="52"/>
                  </a:cubicBezTo>
                  <a:cubicBezTo>
                    <a:pt x="3036" y="0"/>
                    <a:pt x="3036" y="12"/>
                    <a:pt x="2944" y="1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Text Box 86"/>
            <p:cNvSpPr txBox="1">
              <a:spLocks noChangeArrowheads="1"/>
            </p:cNvSpPr>
            <p:nvPr/>
          </p:nvSpPr>
          <p:spPr bwMode="auto">
            <a:xfrm>
              <a:off x="3576" y="3577"/>
              <a:ext cx="19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33" name="Freeform 87"/>
            <p:cNvSpPr>
              <a:spLocks/>
            </p:cNvSpPr>
            <p:nvPr/>
          </p:nvSpPr>
          <p:spPr bwMode="auto">
            <a:xfrm>
              <a:off x="495" y="1488"/>
              <a:ext cx="1313" cy="2184"/>
            </a:xfrm>
            <a:custGeom>
              <a:avLst/>
              <a:gdLst>
                <a:gd name="T0" fmla="*/ 417 w 1313"/>
                <a:gd name="T1" fmla="*/ 2184 h 2184"/>
                <a:gd name="T2" fmla="*/ 393 w 1313"/>
                <a:gd name="T3" fmla="*/ 2160 h 2184"/>
                <a:gd name="T4" fmla="*/ 361 w 1313"/>
                <a:gd name="T5" fmla="*/ 2144 h 2184"/>
                <a:gd name="T6" fmla="*/ 345 w 1313"/>
                <a:gd name="T7" fmla="*/ 2120 h 2184"/>
                <a:gd name="T8" fmla="*/ 321 w 1313"/>
                <a:gd name="T9" fmla="*/ 2104 h 2184"/>
                <a:gd name="T10" fmla="*/ 233 w 1313"/>
                <a:gd name="T11" fmla="*/ 1992 h 2184"/>
                <a:gd name="T12" fmla="*/ 193 w 1313"/>
                <a:gd name="T13" fmla="*/ 1944 h 2184"/>
                <a:gd name="T14" fmla="*/ 161 w 1313"/>
                <a:gd name="T15" fmla="*/ 1872 h 2184"/>
                <a:gd name="T16" fmla="*/ 129 w 1313"/>
                <a:gd name="T17" fmla="*/ 1840 h 2184"/>
                <a:gd name="T18" fmla="*/ 33 w 1313"/>
                <a:gd name="T19" fmla="*/ 1728 h 2184"/>
                <a:gd name="T20" fmla="*/ 9 w 1313"/>
                <a:gd name="T21" fmla="*/ 1632 h 2184"/>
                <a:gd name="T22" fmla="*/ 49 w 1313"/>
                <a:gd name="T23" fmla="*/ 1296 h 2184"/>
                <a:gd name="T24" fmla="*/ 153 w 1313"/>
                <a:gd name="T25" fmla="*/ 1032 h 2184"/>
                <a:gd name="T26" fmla="*/ 241 w 1313"/>
                <a:gd name="T27" fmla="*/ 888 h 2184"/>
                <a:gd name="T28" fmla="*/ 361 w 1313"/>
                <a:gd name="T29" fmla="*/ 720 h 2184"/>
                <a:gd name="T30" fmla="*/ 393 w 1313"/>
                <a:gd name="T31" fmla="*/ 696 h 2184"/>
                <a:gd name="T32" fmla="*/ 465 w 1313"/>
                <a:gd name="T33" fmla="*/ 624 h 2184"/>
                <a:gd name="T34" fmla="*/ 505 w 1313"/>
                <a:gd name="T35" fmla="*/ 568 h 2184"/>
                <a:gd name="T36" fmla="*/ 665 w 1313"/>
                <a:gd name="T37" fmla="*/ 360 h 2184"/>
                <a:gd name="T38" fmla="*/ 697 w 1313"/>
                <a:gd name="T39" fmla="*/ 264 h 2184"/>
                <a:gd name="T40" fmla="*/ 713 w 1313"/>
                <a:gd name="T41" fmla="*/ 192 h 2184"/>
                <a:gd name="T42" fmla="*/ 801 w 1313"/>
                <a:gd name="T43" fmla="*/ 152 h 2184"/>
                <a:gd name="T44" fmla="*/ 1113 w 1313"/>
                <a:gd name="T45" fmla="*/ 88 h 2184"/>
                <a:gd name="T46" fmla="*/ 1241 w 1313"/>
                <a:gd name="T47" fmla="*/ 48 h 2184"/>
                <a:gd name="T48" fmla="*/ 1289 w 1313"/>
                <a:gd name="T49" fmla="*/ 16 h 2184"/>
                <a:gd name="T50" fmla="*/ 1313 w 1313"/>
                <a:gd name="T51" fmla="*/ 0 h 218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313" h="2184">
                  <a:moveTo>
                    <a:pt x="417" y="2184"/>
                  </a:moveTo>
                  <a:cubicBezTo>
                    <a:pt x="409" y="2176"/>
                    <a:pt x="402" y="2167"/>
                    <a:pt x="393" y="2160"/>
                  </a:cubicBezTo>
                  <a:cubicBezTo>
                    <a:pt x="383" y="2153"/>
                    <a:pt x="370" y="2152"/>
                    <a:pt x="361" y="2144"/>
                  </a:cubicBezTo>
                  <a:cubicBezTo>
                    <a:pt x="354" y="2138"/>
                    <a:pt x="352" y="2127"/>
                    <a:pt x="345" y="2120"/>
                  </a:cubicBezTo>
                  <a:cubicBezTo>
                    <a:pt x="338" y="2113"/>
                    <a:pt x="329" y="2109"/>
                    <a:pt x="321" y="2104"/>
                  </a:cubicBezTo>
                  <a:cubicBezTo>
                    <a:pt x="294" y="2063"/>
                    <a:pt x="274" y="2019"/>
                    <a:pt x="233" y="1992"/>
                  </a:cubicBezTo>
                  <a:cubicBezTo>
                    <a:pt x="231" y="1988"/>
                    <a:pt x="193" y="1945"/>
                    <a:pt x="193" y="1944"/>
                  </a:cubicBezTo>
                  <a:cubicBezTo>
                    <a:pt x="180" y="1924"/>
                    <a:pt x="175" y="1892"/>
                    <a:pt x="161" y="1872"/>
                  </a:cubicBezTo>
                  <a:cubicBezTo>
                    <a:pt x="152" y="1860"/>
                    <a:pt x="138" y="1852"/>
                    <a:pt x="129" y="1840"/>
                  </a:cubicBezTo>
                  <a:cubicBezTo>
                    <a:pt x="97" y="1800"/>
                    <a:pt x="76" y="1757"/>
                    <a:pt x="33" y="1728"/>
                  </a:cubicBezTo>
                  <a:cubicBezTo>
                    <a:pt x="12" y="1665"/>
                    <a:pt x="20" y="1697"/>
                    <a:pt x="9" y="1632"/>
                  </a:cubicBezTo>
                  <a:cubicBezTo>
                    <a:pt x="13" y="1533"/>
                    <a:pt x="0" y="1394"/>
                    <a:pt x="49" y="1296"/>
                  </a:cubicBezTo>
                  <a:cubicBezTo>
                    <a:pt x="67" y="1204"/>
                    <a:pt x="101" y="1110"/>
                    <a:pt x="153" y="1032"/>
                  </a:cubicBezTo>
                  <a:cubicBezTo>
                    <a:pt x="182" y="988"/>
                    <a:pt x="196" y="918"/>
                    <a:pt x="241" y="888"/>
                  </a:cubicBezTo>
                  <a:cubicBezTo>
                    <a:pt x="279" y="831"/>
                    <a:pt x="323" y="777"/>
                    <a:pt x="361" y="720"/>
                  </a:cubicBezTo>
                  <a:cubicBezTo>
                    <a:pt x="368" y="709"/>
                    <a:pt x="383" y="705"/>
                    <a:pt x="393" y="696"/>
                  </a:cubicBezTo>
                  <a:cubicBezTo>
                    <a:pt x="418" y="673"/>
                    <a:pt x="441" y="648"/>
                    <a:pt x="465" y="624"/>
                  </a:cubicBezTo>
                  <a:cubicBezTo>
                    <a:pt x="513" y="576"/>
                    <a:pt x="469" y="609"/>
                    <a:pt x="505" y="568"/>
                  </a:cubicBezTo>
                  <a:cubicBezTo>
                    <a:pt x="564" y="501"/>
                    <a:pt x="615" y="435"/>
                    <a:pt x="665" y="360"/>
                  </a:cubicBezTo>
                  <a:cubicBezTo>
                    <a:pt x="673" y="326"/>
                    <a:pt x="689" y="298"/>
                    <a:pt x="697" y="264"/>
                  </a:cubicBezTo>
                  <a:cubicBezTo>
                    <a:pt x="702" y="240"/>
                    <a:pt x="697" y="211"/>
                    <a:pt x="713" y="192"/>
                  </a:cubicBezTo>
                  <a:cubicBezTo>
                    <a:pt x="730" y="172"/>
                    <a:pt x="778" y="160"/>
                    <a:pt x="801" y="152"/>
                  </a:cubicBezTo>
                  <a:cubicBezTo>
                    <a:pt x="902" y="118"/>
                    <a:pt x="1008" y="103"/>
                    <a:pt x="1113" y="88"/>
                  </a:cubicBezTo>
                  <a:cubicBezTo>
                    <a:pt x="1155" y="74"/>
                    <a:pt x="1199" y="62"/>
                    <a:pt x="1241" y="48"/>
                  </a:cubicBezTo>
                  <a:cubicBezTo>
                    <a:pt x="1259" y="42"/>
                    <a:pt x="1273" y="27"/>
                    <a:pt x="1289" y="16"/>
                  </a:cubicBezTo>
                  <a:cubicBezTo>
                    <a:pt x="1297" y="11"/>
                    <a:pt x="1313" y="0"/>
                    <a:pt x="1313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Freeform 88"/>
            <p:cNvSpPr>
              <a:spLocks/>
            </p:cNvSpPr>
            <p:nvPr/>
          </p:nvSpPr>
          <p:spPr bwMode="auto">
            <a:xfrm>
              <a:off x="213" y="1272"/>
              <a:ext cx="1963" cy="2828"/>
            </a:xfrm>
            <a:custGeom>
              <a:avLst/>
              <a:gdLst>
                <a:gd name="T0" fmla="*/ 1963 w 1963"/>
                <a:gd name="T1" fmla="*/ 2560 h 2828"/>
                <a:gd name="T2" fmla="*/ 1795 w 1963"/>
                <a:gd name="T3" fmla="*/ 2584 h 2828"/>
                <a:gd name="T4" fmla="*/ 1779 w 1963"/>
                <a:gd name="T5" fmla="*/ 2736 h 2828"/>
                <a:gd name="T6" fmla="*/ 1683 w 1963"/>
                <a:gd name="T7" fmla="*/ 2784 h 2828"/>
                <a:gd name="T8" fmla="*/ 1635 w 1963"/>
                <a:gd name="T9" fmla="*/ 2800 h 2828"/>
                <a:gd name="T10" fmla="*/ 651 w 1963"/>
                <a:gd name="T11" fmla="*/ 2760 h 2828"/>
                <a:gd name="T12" fmla="*/ 499 w 1963"/>
                <a:gd name="T13" fmla="*/ 2704 h 2828"/>
                <a:gd name="T14" fmla="*/ 347 w 1963"/>
                <a:gd name="T15" fmla="*/ 2592 h 2828"/>
                <a:gd name="T16" fmla="*/ 299 w 1963"/>
                <a:gd name="T17" fmla="*/ 2552 h 2828"/>
                <a:gd name="T18" fmla="*/ 187 w 1963"/>
                <a:gd name="T19" fmla="*/ 2448 h 2828"/>
                <a:gd name="T20" fmla="*/ 139 w 1963"/>
                <a:gd name="T21" fmla="*/ 2400 h 2828"/>
                <a:gd name="T22" fmla="*/ 91 w 1963"/>
                <a:gd name="T23" fmla="*/ 2320 h 2828"/>
                <a:gd name="T24" fmla="*/ 67 w 1963"/>
                <a:gd name="T25" fmla="*/ 2272 h 2828"/>
                <a:gd name="T26" fmla="*/ 35 w 1963"/>
                <a:gd name="T27" fmla="*/ 2192 h 2828"/>
                <a:gd name="T28" fmla="*/ 91 w 1963"/>
                <a:gd name="T29" fmla="*/ 1472 h 2828"/>
                <a:gd name="T30" fmla="*/ 107 w 1963"/>
                <a:gd name="T31" fmla="*/ 1400 h 2828"/>
                <a:gd name="T32" fmla="*/ 155 w 1963"/>
                <a:gd name="T33" fmla="*/ 1312 h 2828"/>
                <a:gd name="T34" fmla="*/ 211 w 1963"/>
                <a:gd name="T35" fmla="*/ 1176 h 2828"/>
                <a:gd name="T36" fmla="*/ 243 w 1963"/>
                <a:gd name="T37" fmla="*/ 1120 h 2828"/>
                <a:gd name="T38" fmla="*/ 315 w 1963"/>
                <a:gd name="T39" fmla="*/ 944 h 2828"/>
                <a:gd name="T40" fmla="*/ 411 w 1963"/>
                <a:gd name="T41" fmla="*/ 800 h 2828"/>
                <a:gd name="T42" fmla="*/ 467 w 1963"/>
                <a:gd name="T43" fmla="*/ 752 h 2828"/>
                <a:gd name="T44" fmla="*/ 587 w 1963"/>
                <a:gd name="T45" fmla="*/ 632 h 2828"/>
                <a:gd name="T46" fmla="*/ 643 w 1963"/>
                <a:gd name="T47" fmla="*/ 600 h 2828"/>
                <a:gd name="T48" fmla="*/ 795 w 1963"/>
                <a:gd name="T49" fmla="*/ 400 h 2828"/>
                <a:gd name="T50" fmla="*/ 955 w 1963"/>
                <a:gd name="T51" fmla="*/ 216 h 2828"/>
                <a:gd name="T52" fmla="*/ 1027 w 1963"/>
                <a:gd name="T53" fmla="*/ 112 h 2828"/>
                <a:gd name="T54" fmla="*/ 1075 w 1963"/>
                <a:gd name="T55" fmla="*/ 88 h 2828"/>
                <a:gd name="T56" fmla="*/ 1195 w 1963"/>
                <a:gd name="T57" fmla="*/ 48 h 2828"/>
                <a:gd name="T58" fmla="*/ 1691 w 1963"/>
                <a:gd name="T59" fmla="*/ 0 h 282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963" h="2828">
                  <a:moveTo>
                    <a:pt x="1963" y="2560"/>
                  </a:moveTo>
                  <a:cubicBezTo>
                    <a:pt x="1906" y="2579"/>
                    <a:pt x="1856" y="2579"/>
                    <a:pt x="1795" y="2584"/>
                  </a:cubicBezTo>
                  <a:cubicBezTo>
                    <a:pt x="1779" y="2632"/>
                    <a:pt x="1796" y="2688"/>
                    <a:pt x="1779" y="2736"/>
                  </a:cubicBezTo>
                  <a:cubicBezTo>
                    <a:pt x="1771" y="2759"/>
                    <a:pt x="1702" y="2778"/>
                    <a:pt x="1683" y="2784"/>
                  </a:cubicBezTo>
                  <a:cubicBezTo>
                    <a:pt x="1667" y="2789"/>
                    <a:pt x="1635" y="2800"/>
                    <a:pt x="1635" y="2800"/>
                  </a:cubicBezTo>
                  <a:cubicBezTo>
                    <a:pt x="1187" y="2796"/>
                    <a:pt x="993" y="2828"/>
                    <a:pt x="651" y="2760"/>
                  </a:cubicBezTo>
                  <a:cubicBezTo>
                    <a:pt x="603" y="2736"/>
                    <a:pt x="548" y="2728"/>
                    <a:pt x="499" y="2704"/>
                  </a:cubicBezTo>
                  <a:cubicBezTo>
                    <a:pt x="440" y="2674"/>
                    <a:pt x="398" y="2634"/>
                    <a:pt x="347" y="2592"/>
                  </a:cubicBezTo>
                  <a:cubicBezTo>
                    <a:pt x="313" y="2563"/>
                    <a:pt x="331" y="2590"/>
                    <a:pt x="299" y="2552"/>
                  </a:cubicBezTo>
                  <a:cubicBezTo>
                    <a:pt x="265" y="2511"/>
                    <a:pt x="227" y="2483"/>
                    <a:pt x="187" y="2448"/>
                  </a:cubicBezTo>
                  <a:cubicBezTo>
                    <a:pt x="170" y="2433"/>
                    <a:pt x="139" y="2400"/>
                    <a:pt x="139" y="2400"/>
                  </a:cubicBezTo>
                  <a:cubicBezTo>
                    <a:pt x="128" y="2368"/>
                    <a:pt x="106" y="2349"/>
                    <a:pt x="91" y="2320"/>
                  </a:cubicBezTo>
                  <a:cubicBezTo>
                    <a:pt x="58" y="2254"/>
                    <a:pt x="113" y="2341"/>
                    <a:pt x="67" y="2272"/>
                  </a:cubicBezTo>
                  <a:cubicBezTo>
                    <a:pt x="59" y="2240"/>
                    <a:pt x="53" y="2219"/>
                    <a:pt x="35" y="2192"/>
                  </a:cubicBezTo>
                  <a:cubicBezTo>
                    <a:pt x="0" y="1948"/>
                    <a:pt x="21" y="1705"/>
                    <a:pt x="91" y="1472"/>
                  </a:cubicBezTo>
                  <a:cubicBezTo>
                    <a:pt x="95" y="1459"/>
                    <a:pt x="101" y="1414"/>
                    <a:pt x="107" y="1400"/>
                  </a:cubicBezTo>
                  <a:cubicBezTo>
                    <a:pt x="120" y="1369"/>
                    <a:pt x="140" y="1342"/>
                    <a:pt x="155" y="1312"/>
                  </a:cubicBezTo>
                  <a:cubicBezTo>
                    <a:pt x="181" y="1260"/>
                    <a:pt x="174" y="1225"/>
                    <a:pt x="211" y="1176"/>
                  </a:cubicBezTo>
                  <a:cubicBezTo>
                    <a:pt x="229" y="1121"/>
                    <a:pt x="204" y="1188"/>
                    <a:pt x="243" y="1120"/>
                  </a:cubicBezTo>
                  <a:cubicBezTo>
                    <a:pt x="273" y="1067"/>
                    <a:pt x="287" y="1000"/>
                    <a:pt x="315" y="944"/>
                  </a:cubicBezTo>
                  <a:cubicBezTo>
                    <a:pt x="341" y="892"/>
                    <a:pt x="379" y="848"/>
                    <a:pt x="411" y="800"/>
                  </a:cubicBezTo>
                  <a:cubicBezTo>
                    <a:pt x="425" y="780"/>
                    <a:pt x="451" y="771"/>
                    <a:pt x="467" y="752"/>
                  </a:cubicBezTo>
                  <a:cubicBezTo>
                    <a:pt x="490" y="725"/>
                    <a:pt x="560" y="646"/>
                    <a:pt x="587" y="632"/>
                  </a:cubicBezTo>
                  <a:cubicBezTo>
                    <a:pt x="628" y="612"/>
                    <a:pt x="609" y="623"/>
                    <a:pt x="643" y="600"/>
                  </a:cubicBezTo>
                  <a:cubicBezTo>
                    <a:pt x="690" y="530"/>
                    <a:pt x="735" y="460"/>
                    <a:pt x="795" y="400"/>
                  </a:cubicBezTo>
                  <a:cubicBezTo>
                    <a:pt x="825" y="310"/>
                    <a:pt x="891" y="280"/>
                    <a:pt x="955" y="216"/>
                  </a:cubicBezTo>
                  <a:cubicBezTo>
                    <a:pt x="986" y="185"/>
                    <a:pt x="1002" y="150"/>
                    <a:pt x="1027" y="112"/>
                  </a:cubicBezTo>
                  <a:cubicBezTo>
                    <a:pt x="1038" y="95"/>
                    <a:pt x="1059" y="96"/>
                    <a:pt x="1075" y="88"/>
                  </a:cubicBezTo>
                  <a:cubicBezTo>
                    <a:pt x="1116" y="67"/>
                    <a:pt x="1150" y="59"/>
                    <a:pt x="1195" y="48"/>
                  </a:cubicBezTo>
                  <a:cubicBezTo>
                    <a:pt x="1358" y="7"/>
                    <a:pt x="1522" y="0"/>
                    <a:pt x="1691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5" name="Text Box 89"/>
            <p:cNvSpPr txBox="1">
              <a:spLocks noChangeArrowheads="1"/>
            </p:cNvSpPr>
            <p:nvPr/>
          </p:nvSpPr>
          <p:spPr bwMode="auto">
            <a:xfrm>
              <a:off x="1933" y="3966"/>
              <a:ext cx="374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36" name="Text Box 90"/>
            <p:cNvSpPr txBox="1">
              <a:spLocks noChangeArrowheads="1"/>
            </p:cNvSpPr>
            <p:nvPr/>
          </p:nvSpPr>
          <p:spPr bwMode="auto">
            <a:xfrm>
              <a:off x="1161" y="2391"/>
              <a:ext cx="315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37" name="Text Box 91"/>
            <p:cNvSpPr txBox="1">
              <a:spLocks noChangeArrowheads="1"/>
            </p:cNvSpPr>
            <p:nvPr/>
          </p:nvSpPr>
          <p:spPr bwMode="auto">
            <a:xfrm>
              <a:off x="2017" y="2471"/>
              <a:ext cx="19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38" name="Text Box 92"/>
            <p:cNvSpPr txBox="1">
              <a:spLocks noChangeArrowheads="1"/>
            </p:cNvSpPr>
            <p:nvPr/>
          </p:nvSpPr>
          <p:spPr bwMode="auto">
            <a:xfrm>
              <a:off x="2580" y="2391"/>
              <a:ext cx="335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39" name="Text Box 93"/>
            <p:cNvSpPr txBox="1">
              <a:spLocks noChangeArrowheads="1"/>
            </p:cNvSpPr>
            <p:nvPr/>
          </p:nvSpPr>
          <p:spPr bwMode="auto">
            <a:xfrm>
              <a:off x="3239" y="2391"/>
              <a:ext cx="199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40" name="Text Box 95"/>
            <p:cNvSpPr txBox="1">
              <a:spLocks noChangeArrowheads="1"/>
            </p:cNvSpPr>
            <p:nvPr/>
          </p:nvSpPr>
          <p:spPr bwMode="auto">
            <a:xfrm>
              <a:off x="4128" y="2578"/>
              <a:ext cx="19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41" name="Text Box 96"/>
            <p:cNvSpPr txBox="1">
              <a:spLocks noChangeArrowheads="1"/>
            </p:cNvSpPr>
            <p:nvPr/>
          </p:nvSpPr>
          <p:spPr bwMode="auto">
            <a:xfrm>
              <a:off x="1009" y="3248"/>
              <a:ext cx="19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0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42" name="Text Box 97"/>
            <p:cNvSpPr txBox="1">
              <a:spLocks noChangeArrowheads="1"/>
            </p:cNvSpPr>
            <p:nvPr/>
          </p:nvSpPr>
          <p:spPr bwMode="auto">
            <a:xfrm>
              <a:off x="1519" y="3073"/>
              <a:ext cx="19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43" name="Text Box 98"/>
            <p:cNvSpPr txBox="1">
              <a:spLocks noChangeArrowheads="1"/>
            </p:cNvSpPr>
            <p:nvPr/>
          </p:nvSpPr>
          <p:spPr bwMode="auto">
            <a:xfrm>
              <a:off x="1808" y="3100"/>
              <a:ext cx="360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44" name="Text Box 99"/>
            <p:cNvSpPr txBox="1">
              <a:spLocks noChangeArrowheads="1"/>
            </p:cNvSpPr>
            <p:nvPr/>
          </p:nvSpPr>
          <p:spPr bwMode="auto">
            <a:xfrm>
              <a:off x="2423" y="3240"/>
              <a:ext cx="199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45" name="Text Box 100"/>
            <p:cNvSpPr txBox="1">
              <a:spLocks noChangeArrowheads="1"/>
            </p:cNvSpPr>
            <p:nvPr/>
          </p:nvSpPr>
          <p:spPr bwMode="auto">
            <a:xfrm>
              <a:off x="3591" y="2312"/>
              <a:ext cx="35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400" b="0" u="none">
                  <a:latin typeface="Times New Roman" panose="02020603050405020304" pitchFamily="18" charset="0"/>
                </a:rPr>
                <a:t>X’</a:t>
              </a:r>
              <a:endParaRPr lang="en-US" altLang="en-US" sz="1400" b="0" u="none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24581" name="Text Box 98"/>
          <p:cNvSpPr txBox="1">
            <a:spLocks noChangeArrowheads="1"/>
          </p:cNvSpPr>
          <p:nvPr/>
        </p:nvSpPr>
        <p:spPr bwMode="auto">
          <a:xfrm>
            <a:off x="5248275" y="4397375"/>
            <a:ext cx="4413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400" b="0" u="none">
                <a:latin typeface="Times New Roman" panose="02020603050405020304" pitchFamily="18" charset="0"/>
              </a:rPr>
              <a:t>X’</a:t>
            </a:r>
            <a:endParaRPr lang="en-US" altLang="en-US" sz="1400" b="0" u="none" baseline="-25000">
              <a:latin typeface="Times New Roman" panose="02020603050405020304" pitchFamily="18" charset="0"/>
            </a:endParaRPr>
          </a:p>
        </p:txBody>
      </p:sp>
      <p:sp>
        <p:nvSpPr>
          <p:cNvPr id="103" name="Title 1"/>
          <p:cNvSpPr txBox="1">
            <a:spLocks/>
          </p:cNvSpPr>
          <p:nvPr/>
        </p:nvSpPr>
        <p:spPr>
          <a:xfrm>
            <a:off x="222250" y="23813"/>
            <a:ext cx="8647113" cy="90487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u="none" kern="0" dirty="0"/>
              <a:t>BCD to Excess 3 Moore FSM Example</a:t>
            </a:r>
          </a:p>
          <a:p>
            <a:pPr>
              <a:defRPr/>
            </a:pPr>
            <a:r>
              <a:rPr lang="en-US" sz="2400" u="none" kern="0" dirty="0"/>
              <a:t>(Extended State Graph Representation)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Hybrid Mealy/Moore FSM </a:t>
            </a:r>
            <a:br>
              <a:rPr lang="en-US" altLang="en-US"/>
            </a:br>
            <a:r>
              <a:rPr lang="en-US" altLang="en-US" sz="2400"/>
              <a:t>(Extended State Graph Representation)</a:t>
            </a:r>
          </a:p>
        </p:txBody>
      </p:sp>
      <p:sp>
        <p:nvSpPr>
          <p:cNvPr id="25603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A6DDBE-7092-4C53-8285-6573822E899F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2CD6E0-C137-4FE9-8984-57BA45BB477C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pic>
        <p:nvPicPr>
          <p:cNvPr id="2560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1166813"/>
            <a:ext cx="76866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22250" y="168275"/>
            <a:ext cx="8647113" cy="998538"/>
          </a:xfrm>
        </p:spPr>
        <p:txBody>
          <a:bodyPr/>
          <a:lstStyle/>
          <a:p>
            <a:r>
              <a:rPr lang="en-US" altLang="en-US" sz="3100"/>
              <a:t>Equivalent Moore Output Representation on a Pure Mealy Extended State Graph</a:t>
            </a:r>
            <a:br>
              <a:rPr lang="en-US" altLang="en-US" sz="3100"/>
            </a:br>
            <a:endParaRPr lang="en-US" altLang="en-US" sz="3100"/>
          </a:p>
        </p:txBody>
      </p:sp>
      <p:sp>
        <p:nvSpPr>
          <p:cNvPr id="26627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A3004E-E893-447D-8A9E-63372367606B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624C4A-7739-4E89-950B-D084E502B6A1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pic>
        <p:nvPicPr>
          <p:cNvPr id="2662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031875"/>
            <a:ext cx="82581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22250" y="168275"/>
            <a:ext cx="8647113" cy="998538"/>
          </a:xfrm>
        </p:spPr>
        <p:txBody>
          <a:bodyPr/>
          <a:lstStyle/>
          <a:p>
            <a:r>
              <a:rPr lang="en-US" altLang="en-US" sz="3100"/>
              <a:t>Equivalent Moore Output Representation on a Pure Mealy Extended State Graph</a:t>
            </a:r>
            <a:br>
              <a:rPr lang="en-US" altLang="en-US" sz="3100"/>
            </a:br>
            <a:endParaRPr lang="en-US" altLang="en-US" sz="3100"/>
          </a:p>
        </p:txBody>
      </p:sp>
      <p:sp>
        <p:nvSpPr>
          <p:cNvPr id="27651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C9EE62-5920-4F0D-A85E-0CAE3E09FCFA}" type="datetime1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2/10/2025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79F6FC-FFC3-4908-B017-B31B45429F0A}" type="slidenum">
              <a:rPr lang="en-GB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pic>
        <p:nvPicPr>
          <p:cNvPr id="2765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036638"/>
            <a:ext cx="82581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23825" y="5561013"/>
            <a:ext cx="8637588" cy="8397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141413" lvl="2" indent="-341313" defTabSz="457200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b="0" u="none" kern="0" dirty="0"/>
              <a:t>Each Moore output appears as a Mealy output on ALL transitional arcs that leave the state that is associated with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GB" altLang="en-US" sz="2000" b="1" i="0" u="sng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GB" altLang="en-US" sz="2000" b="1" i="0" u="sng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8500</TotalTime>
  <Words>478</Words>
  <Application>Microsoft Office PowerPoint</Application>
  <PresentationFormat>On-screen Show (4:3)</PresentationFormat>
  <Paragraphs>174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Symbol</vt:lpstr>
      <vt:lpstr>Times New Roman</vt:lpstr>
      <vt:lpstr>Default Design</vt:lpstr>
      <vt:lpstr>PowerPoint Presentation</vt:lpstr>
      <vt:lpstr>Extended State Graph</vt:lpstr>
      <vt:lpstr>BCD to Excess 3 Mealy FSM Example</vt:lpstr>
      <vt:lpstr>BCD to Excess 3 Mealy FSM Example</vt:lpstr>
      <vt:lpstr>PowerPoint Presentation</vt:lpstr>
      <vt:lpstr>Example: Add/Shift Multiplier </vt:lpstr>
      <vt:lpstr>Example: 4 bit Add/Shift Multiplier </vt:lpstr>
      <vt:lpstr>Example: 4-bit Add/Shift Multiplier </vt:lpstr>
      <vt:lpstr>Extended State Graph  for 4 bit Add/Shift Multiplier</vt:lpstr>
      <vt:lpstr>Extended State Graph  for 4 bit Add/Shift Multiplier</vt:lpstr>
      <vt:lpstr>PowerPoint Presentation</vt:lpstr>
      <vt:lpstr>PowerPoint Presentation</vt:lpstr>
      <vt:lpstr>Hybrid Mealy/Moore FSM  (Extended State Graph Representation)</vt:lpstr>
      <vt:lpstr>Equivalent Moore Output Representation on a Pure Mealy Extended State Graph </vt:lpstr>
      <vt:lpstr>Equivalent Moore Output Representation on a Pure Mealy Extended State Graph </vt:lpstr>
    </vt:vector>
  </TitlesOfParts>
  <Company>ECE, UAH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cpe/ee 422/522 Advanced Logic Desing</dc:title>
  <dc:creator>Aleksandar Milenkovic</dc:creator>
  <cp:lastModifiedBy>Buren E Wells Jr</cp:lastModifiedBy>
  <cp:revision>412</cp:revision>
  <cp:lastPrinted>2001-02-08T13:25:47Z</cp:lastPrinted>
  <dcterms:created xsi:type="dcterms:W3CDTF">2001-01-05T13:58:05Z</dcterms:created>
  <dcterms:modified xsi:type="dcterms:W3CDTF">2025-02-11T07:23:55Z</dcterms:modified>
</cp:coreProperties>
</file>